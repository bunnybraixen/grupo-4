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oppins"/>
      <p:regular r:id="rId21"/>
      <p:bold r:id="rId22"/>
      <p:italic r:id="rId23"/>
      <p:boldItalic r:id="rId24"/>
    </p:embeddedFont>
    <p:embeddedFont>
      <p:font typeface="Lato"/>
      <p:regular r:id="rId25"/>
      <p:bold r:id="rId26"/>
      <p:italic r:id="rId27"/>
      <p:boldItalic r:id="rId28"/>
    </p:embeddedFont>
    <p:embeddedFont>
      <p:font typeface="Inter"/>
      <p:regular r:id="rId29"/>
      <p:bold r:id="rId30"/>
      <p:italic r:id="rId31"/>
      <p:boldItalic r:id="rId32"/>
    </p:embeddedFont>
    <p:embeddedFont>
      <p:font typeface="Plus Jakarta Sans"/>
      <p:regular r:id="rId33"/>
      <p:bold r:id="rId34"/>
      <p:italic r:id="rId35"/>
      <p:boldItalic r:id="rId36"/>
    </p:embeddedFont>
    <p:embeddedFont>
      <p:font typeface="Plus Jakarta Sa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i3yZXc1h7RWw+4geIUheMtiv0t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AED1CB-46BC-4002-9EFD-AE6B2585B8C7}">
  <a:tblStyle styleId="{DDAED1CB-46BC-4002-9EFD-AE6B2585B8C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D0BF4FEB-6809-4173-A92F-51A736F13E78}"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SemiBold-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italic.fntdata"/><Relationship Id="rId30" Type="http://schemas.openxmlformats.org/officeDocument/2006/relationships/font" Target="fonts/Inter-bold.fntdata"/><Relationship Id="rId11" Type="http://schemas.openxmlformats.org/officeDocument/2006/relationships/slide" Target="slides/slide5.xml"/><Relationship Id="rId33" Type="http://schemas.openxmlformats.org/officeDocument/2006/relationships/font" Target="fonts/PlusJakartaSans-regular.fntdata"/><Relationship Id="rId10" Type="http://schemas.openxmlformats.org/officeDocument/2006/relationships/slide" Target="slides/slide4.xml"/><Relationship Id="rId32" Type="http://schemas.openxmlformats.org/officeDocument/2006/relationships/font" Target="fonts/Inter-boldItalic.fntdata"/><Relationship Id="rId13" Type="http://schemas.openxmlformats.org/officeDocument/2006/relationships/slide" Target="slides/slide7.xml"/><Relationship Id="rId35" Type="http://schemas.openxmlformats.org/officeDocument/2006/relationships/font" Target="fonts/PlusJakartaSans-italic.fntdata"/><Relationship Id="rId12" Type="http://schemas.openxmlformats.org/officeDocument/2006/relationships/slide" Target="slides/slide6.xml"/><Relationship Id="rId34" Type="http://schemas.openxmlformats.org/officeDocument/2006/relationships/font" Target="fonts/PlusJakartaSans-bold.fntdata"/><Relationship Id="rId15" Type="http://schemas.openxmlformats.org/officeDocument/2006/relationships/slide" Target="slides/slide9.xml"/><Relationship Id="rId37" Type="http://schemas.openxmlformats.org/officeDocument/2006/relationships/font" Target="fonts/PlusJakartaSansSemiBold-regular.fntdata"/><Relationship Id="rId14" Type="http://schemas.openxmlformats.org/officeDocument/2006/relationships/slide" Target="slides/slide8.xml"/><Relationship Id="rId36" Type="http://schemas.openxmlformats.org/officeDocument/2006/relationships/font" Target="fonts/PlusJakartaSans-boldItalic.fntdata"/><Relationship Id="rId17" Type="http://schemas.openxmlformats.org/officeDocument/2006/relationships/slide" Target="slides/slide11.xml"/><Relationship Id="rId39" Type="http://schemas.openxmlformats.org/officeDocument/2006/relationships/font" Target="fonts/PlusJakartaSansSemiBold-italic.fntdata"/><Relationship Id="rId16" Type="http://schemas.openxmlformats.org/officeDocument/2006/relationships/slide" Target="slides/slide10.xml"/><Relationship Id="rId38" Type="http://schemas.openxmlformats.org/officeDocument/2006/relationships/font" Target="fonts/PlusJakartaSansSemiBo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a65a0c9aa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fa65a0c9aa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28.png"/><Relationship Id="rId7" Type="http://schemas.openxmlformats.org/officeDocument/2006/relationships/image" Target="../media/image19.png"/><Relationship Id="rId8"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30.png"/><Relationship Id="rId5" Type="http://schemas.openxmlformats.org/officeDocument/2006/relationships/image" Target="../media/image23.png"/><Relationship Id="rId6" Type="http://schemas.openxmlformats.org/officeDocument/2006/relationships/image" Target="../media/image53.png"/><Relationship Id="rId7" Type="http://schemas.openxmlformats.org/officeDocument/2006/relationships/image" Target="../media/image35.png"/><Relationship Id="rId8"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image" Target="../media/image44.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38.png"/></Relationships>
</file>

<file path=ppt/slides/_rels/slide13.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47.png"/><Relationship Id="rId13" Type="http://schemas.openxmlformats.org/officeDocument/2006/relationships/image" Target="../media/image46.png"/><Relationship Id="rId12" Type="http://schemas.openxmlformats.org/officeDocument/2006/relationships/image" Target="../media/image45.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42.png"/><Relationship Id="rId9" Type="http://schemas.openxmlformats.org/officeDocument/2006/relationships/image" Target="../media/image34.png"/><Relationship Id="rId1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32.png"/><Relationship Id="rId7" Type="http://schemas.openxmlformats.org/officeDocument/2006/relationships/image" Target="../media/image54.png"/><Relationship Id="rId8"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0.png"/><Relationship Id="rId4" Type="http://schemas.openxmlformats.org/officeDocument/2006/relationships/image" Target="../media/image52.png"/><Relationship Id="rId5"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
          <p:cNvPicPr preferRelativeResize="0"/>
          <p:nvPr/>
        </p:nvPicPr>
        <p:blipFill rotWithShape="1">
          <a:blip r:embed="rId3">
            <a:alphaModFix/>
          </a:blip>
          <a:srcRect b="0" l="0" r="0" t="0"/>
          <a:stretch/>
        </p:blipFill>
        <p:spPr>
          <a:xfrm>
            <a:off x="0" y="-133825"/>
            <a:ext cx="12330976" cy="6991825"/>
          </a:xfrm>
          <a:prstGeom prst="rect">
            <a:avLst/>
          </a:prstGeom>
          <a:noFill/>
          <a:ln>
            <a:noFill/>
          </a:ln>
        </p:spPr>
      </p:pic>
      <p:sp>
        <p:nvSpPr>
          <p:cNvPr id="85" name="Google Shape;85;p1"/>
          <p:cNvSpPr txBox="1"/>
          <p:nvPr/>
        </p:nvSpPr>
        <p:spPr>
          <a:xfrm>
            <a:off x="3535655" y="2334500"/>
            <a:ext cx="5120700" cy="669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350"/>
              <a:buFont typeface="Arial"/>
              <a:buNone/>
            </a:pPr>
            <a:r>
              <a:rPr b="1" i="0" lang="en-US" sz="4350" u="none" cap="none" strike="noStrike">
                <a:solidFill>
                  <a:srgbClr val="FFFFFF"/>
                </a:solidFill>
                <a:latin typeface="Poppins"/>
                <a:ea typeface="Poppins"/>
                <a:cs typeface="Poppins"/>
                <a:sym typeface="Poppins"/>
              </a:rPr>
              <a:t>CoreStream</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2469438" y="3223488"/>
            <a:ext cx="72531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rgbClr val="A5B4FC"/>
                </a:solidFill>
                <a:latin typeface="Lato"/>
                <a:ea typeface="Lato"/>
                <a:cs typeface="Lato"/>
                <a:sym typeface="Lato"/>
              </a:rPr>
              <a:t>Gestión de Proyectos, Tickets y Experiencia de Usuario</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2040188" y="3556975"/>
            <a:ext cx="8250600" cy="323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350"/>
              <a:buFont typeface="Arial"/>
              <a:buNone/>
            </a:pPr>
            <a:r>
              <a:rPr b="0" i="0" lang="en-US" sz="2100" u="none" cap="none" strike="noStrike">
                <a:solidFill>
                  <a:srgbClr val="CBD5E1"/>
                </a:solidFill>
                <a:latin typeface="Lato"/>
                <a:ea typeface="Lato"/>
                <a:cs typeface="Lato"/>
                <a:sym typeface="Lato"/>
              </a:rPr>
              <a:t>Brechas Identificadas &amp; Implementación de Nuevas Funcionalidades</a:t>
            </a:r>
            <a:endParaRPr b="0" i="0" sz="2100" u="none" cap="none" strike="noStrike">
              <a:solidFill>
                <a:srgbClr val="000000"/>
              </a:solidFill>
              <a:latin typeface="Arial"/>
              <a:ea typeface="Arial"/>
              <a:cs typeface="Arial"/>
              <a:sym typeface="Arial"/>
            </a:endParaRPr>
          </a:p>
        </p:txBody>
      </p:sp>
      <p:sp>
        <p:nvSpPr>
          <p:cNvPr id="88" name="Google Shape;88;p1"/>
          <p:cNvSpPr txBox="1"/>
          <p:nvPr/>
        </p:nvSpPr>
        <p:spPr>
          <a:xfrm>
            <a:off x="1587091" y="4598750"/>
            <a:ext cx="5039100" cy="315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48"/>
              <a:buFont typeface="Arial"/>
              <a:buNone/>
            </a:pPr>
            <a:r>
              <a:rPr b="0" i="0" lang="en-US" sz="2048" u="none" cap="none" strike="noStrike">
                <a:solidFill>
                  <a:srgbClr val="94A3B8"/>
                </a:solidFill>
                <a:latin typeface="Lato"/>
                <a:ea typeface="Lato"/>
                <a:cs typeface="Lato"/>
                <a:sym typeface="Lato"/>
              </a:rPr>
              <a:t> Diego Fevre · Pablo Figueroa · Diego Jeldres</a:t>
            </a:r>
            <a:endParaRPr b="0" i="0" sz="2389" u="none" cap="none" strike="noStrike">
              <a:solidFill>
                <a:srgbClr val="000000"/>
              </a:solidFill>
              <a:latin typeface="Lato"/>
              <a:ea typeface="Lato"/>
              <a:cs typeface="Lato"/>
              <a:sym typeface="Lato"/>
            </a:endParaRPr>
          </a:p>
        </p:txBody>
      </p:sp>
      <p:pic>
        <p:nvPicPr>
          <p:cNvPr descr="image.png" id="89" name="Google Shape;89;p1"/>
          <p:cNvPicPr preferRelativeResize="0"/>
          <p:nvPr/>
        </p:nvPicPr>
        <p:blipFill rotWithShape="1">
          <a:blip r:embed="rId4">
            <a:alphaModFix/>
          </a:blip>
          <a:srcRect b="0" l="0" r="0" t="0"/>
          <a:stretch/>
        </p:blipFill>
        <p:spPr>
          <a:xfrm>
            <a:off x="1211225" y="4626413"/>
            <a:ext cx="325059" cy="260042"/>
          </a:xfrm>
          <a:prstGeom prst="rect">
            <a:avLst/>
          </a:prstGeom>
          <a:noFill/>
          <a:ln>
            <a:noFill/>
          </a:ln>
        </p:spPr>
      </p:pic>
      <p:pic>
        <p:nvPicPr>
          <p:cNvPr descr="image.png" id="90" name="Google Shape;90;p1"/>
          <p:cNvPicPr preferRelativeResize="0"/>
          <p:nvPr/>
        </p:nvPicPr>
        <p:blipFill rotWithShape="1">
          <a:blip r:embed="rId5">
            <a:alphaModFix/>
          </a:blip>
          <a:srcRect b="0" l="0" r="0" t="0"/>
          <a:stretch/>
        </p:blipFill>
        <p:spPr>
          <a:xfrm>
            <a:off x="6932439" y="4626413"/>
            <a:ext cx="195036" cy="260042"/>
          </a:xfrm>
          <a:prstGeom prst="rect">
            <a:avLst/>
          </a:prstGeom>
          <a:noFill/>
          <a:ln>
            <a:noFill/>
          </a:ln>
        </p:spPr>
      </p:pic>
      <p:pic>
        <p:nvPicPr>
          <p:cNvPr descr="image.png" id="91" name="Google Shape;91;p1"/>
          <p:cNvPicPr preferRelativeResize="0"/>
          <p:nvPr/>
        </p:nvPicPr>
        <p:blipFill rotWithShape="1">
          <a:blip r:embed="rId6">
            <a:alphaModFix/>
          </a:blip>
          <a:srcRect b="0" l="0" r="0" t="0"/>
          <a:stretch/>
        </p:blipFill>
        <p:spPr>
          <a:xfrm>
            <a:off x="8788817" y="4626413"/>
            <a:ext cx="227542" cy="260042"/>
          </a:xfrm>
          <a:prstGeom prst="rect">
            <a:avLst/>
          </a:prstGeom>
          <a:noFill/>
          <a:ln>
            <a:noFill/>
          </a:ln>
        </p:spPr>
      </p:pic>
      <p:sp>
        <p:nvSpPr>
          <p:cNvPr id="92" name="Google Shape;92;p1"/>
          <p:cNvSpPr txBox="1"/>
          <p:nvPr/>
        </p:nvSpPr>
        <p:spPr>
          <a:xfrm>
            <a:off x="9053642" y="4598750"/>
            <a:ext cx="2066100" cy="315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48"/>
              <a:buFont typeface="Arial"/>
              <a:buNone/>
            </a:pPr>
            <a:r>
              <a:rPr b="0" i="0" lang="en-US" sz="2048" u="none" cap="none" strike="noStrike">
                <a:solidFill>
                  <a:srgbClr val="94A3B8"/>
                </a:solidFill>
                <a:latin typeface="Lato"/>
                <a:ea typeface="Lato"/>
                <a:cs typeface="Lato"/>
                <a:sym typeface="Lato"/>
              </a:rPr>
              <a:t> Septiembre 2026</a:t>
            </a:r>
            <a:endParaRPr b="0" i="0" sz="2389" u="none" cap="none" strike="noStrike">
              <a:solidFill>
                <a:srgbClr val="000000"/>
              </a:solidFill>
              <a:latin typeface="Lato"/>
              <a:ea typeface="Lato"/>
              <a:cs typeface="Lato"/>
              <a:sym typeface="Lato"/>
            </a:endParaRPr>
          </a:p>
        </p:txBody>
      </p:sp>
      <p:sp>
        <p:nvSpPr>
          <p:cNvPr id="93" name="Google Shape;93;p1"/>
          <p:cNvSpPr txBox="1"/>
          <p:nvPr/>
        </p:nvSpPr>
        <p:spPr>
          <a:xfrm>
            <a:off x="7220811" y="4598750"/>
            <a:ext cx="1325400" cy="315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48"/>
              <a:buFont typeface="Arial"/>
              <a:buNone/>
            </a:pPr>
            <a:r>
              <a:rPr b="0" i="0" lang="en-US" sz="2048" u="none" cap="none" strike="noStrike">
                <a:solidFill>
                  <a:srgbClr val="94A3B8"/>
                </a:solidFill>
                <a:latin typeface="Lato"/>
                <a:ea typeface="Lato"/>
                <a:cs typeface="Lato"/>
                <a:sym typeface="Lato"/>
              </a:rPr>
              <a:t>Alloxentric</a:t>
            </a:r>
            <a:endParaRPr b="0" i="0" sz="2389" u="none" cap="none" strike="noStrike">
              <a:solidFill>
                <a:srgbClr val="000000"/>
              </a:solidFill>
              <a:latin typeface="Lato"/>
              <a:ea typeface="Lato"/>
              <a:cs typeface="Lato"/>
              <a:sym typeface="Lato"/>
            </a:endParaRPr>
          </a:p>
        </p:txBody>
      </p:sp>
      <p:sp>
        <p:nvSpPr>
          <p:cNvPr id="94" name="Google Shape;94;p1"/>
          <p:cNvSpPr txBox="1"/>
          <p:nvPr/>
        </p:nvSpPr>
        <p:spPr>
          <a:xfrm>
            <a:off x="3535655" y="1872800"/>
            <a:ext cx="5120700" cy="4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350"/>
              <a:buFont typeface="Arial"/>
              <a:buNone/>
            </a:pPr>
            <a:r>
              <a:rPr lang="en-US" sz="3000">
                <a:solidFill>
                  <a:srgbClr val="FFFFFF"/>
                </a:solidFill>
                <a:latin typeface="Poppins"/>
                <a:ea typeface="Poppins"/>
                <a:cs typeface="Poppins"/>
                <a:sym typeface="Poppins"/>
              </a:rPr>
              <a:t>Capstone</a:t>
            </a:r>
            <a:endParaRPr b="0" i="0" sz="3000" u="none" cap="none" strike="noStrike">
              <a:solidFill>
                <a:srgbClr val="000000"/>
              </a:solidFill>
              <a:latin typeface="Arial"/>
              <a:ea typeface="Arial"/>
              <a:cs typeface="Arial"/>
              <a:sym typeface="Arial"/>
            </a:endParaRPr>
          </a:p>
        </p:txBody>
      </p:sp>
      <p:pic>
        <p:nvPicPr>
          <p:cNvPr id="95" name="Google Shape;95;p1" title="logo-duoc-blanco.png"/>
          <p:cNvPicPr preferRelativeResize="0"/>
          <p:nvPr/>
        </p:nvPicPr>
        <p:blipFill>
          <a:blip r:embed="rId7">
            <a:alphaModFix/>
          </a:blip>
          <a:stretch>
            <a:fillRect/>
          </a:stretch>
        </p:blipFill>
        <p:spPr>
          <a:xfrm>
            <a:off x="258525" y="195825"/>
            <a:ext cx="2643450" cy="85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descr="image.png" id="100" name="Google Shape;100;g3fa65a0c9aa_1_42"/>
          <p:cNvPicPr preferRelativeResize="0"/>
          <p:nvPr/>
        </p:nvPicPr>
        <p:blipFill rotWithShape="1">
          <a:blip r:embed="rId3">
            <a:alphaModFix/>
          </a:blip>
          <a:srcRect b="0" l="0" r="0" t="0"/>
          <a:stretch/>
        </p:blipFill>
        <p:spPr>
          <a:xfrm>
            <a:off x="2088437" y="1608950"/>
            <a:ext cx="8015125" cy="4855875"/>
          </a:xfrm>
          <a:prstGeom prst="rect">
            <a:avLst/>
          </a:prstGeom>
          <a:noFill/>
          <a:ln>
            <a:noFill/>
          </a:ln>
        </p:spPr>
      </p:pic>
      <p:sp>
        <p:nvSpPr>
          <p:cNvPr id="101" name="Google Shape;101;g3fa65a0c9aa_1_42"/>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2700"/>
              <a:buFont typeface="Arial"/>
              <a:buNone/>
            </a:pPr>
            <a:r>
              <a:rPr b="1" lang="en-US" sz="2700">
                <a:solidFill>
                  <a:srgbClr val="0F172A"/>
                </a:solidFill>
                <a:latin typeface="Poppins"/>
                <a:ea typeface="Poppins"/>
                <a:cs typeface="Poppins"/>
                <a:sym typeface="Poppins"/>
              </a:rPr>
              <a:t>Contexto</a:t>
            </a:r>
            <a:endParaRPr b="0" i="0" sz="1400" u="none" cap="none" strike="noStrike">
              <a:solidFill>
                <a:srgbClr val="000000"/>
              </a:solidFill>
              <a:latin typeface="Arial"/>
              <a:ea typeface="Arial"/>
              <a:cs typeface="Arial"/>
              <a:sym typeface="Arial"/>
            </a:endParaRPr>
          </a:p>
        </p:txBody>
      </p:sp>
      <p:sp>
        <p:nvSpPr>
          <p:cNvPr id="102" name="Google Shape;102;g3fa65a0c9aa_1_42"/>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g3fa65a0c9aa_1_42"/>
          <p:cNvSpPr txBox="1"/>
          <p:nvPr/>
        </p:nvSpPr>
        <p:spPr>
          <a:xfrm>
            <a:off x="2491359" y="1881593"/>
            <a:ext cx="3784500" cy="327300"/>
          </a:xfrm>
          <a:prstGeom prst="rect">
            <a:avLst/>
          </a:prstGeom>
          <a:noFill/>
          <a:ln>
            <a:noFill/>
          </a:ln>
        </p:spPr>
        <p:txBody>
          <a:bodyPr anchorCtr="0" anchor="t" bIns="0" lIns="389675" spcFirstLastPara="1" rIns="0" wrap="square" tIns="0">
            <a:spAutoFit/>
          </a:bodyPr>
          <a:lstStyle/>
          <a:p>
            <a:pPr indent="0" lvl="0" marL="0" marR="0" rtl="0" algn="l">
              <a:lnSpc>
                <a:spcPct val="100000"/>
              </a:lnSpc>
              <a:spcBef>
                <a:spcPts val="0"/>
              </a:spcBef>
              <a:spcAft>
                <a:spcPts val="0"/>
              </a:spcAft>
              <a:buClr>
                <a:srgbClr val="000000"/>
              </a:buClr>
              <a:buSzPts val="2127"/>
              <a:buFont typeface="Arial"/>
              <a:buNone/>
            </a:pPr>
            <a:r>
              <a:rPr b="1" lang="en-US" sz="2127">
                <a:solidFill>
                  <a:srgbClr val="1E293B"/>
                </a:solidFill>
                <a:latin typeface="Poppins"/>
                <a:ea typeface="Poppins"/>
                <a:cs typeface="Poppins"/>
                <a:sym typeface="Poppins"/>
              </a:rPr>
              <a:t>¿Que es CoreStream?</a:t>
            </a:r>
            <a:endParaRPr b="0" i="0" sz="2121" u="none" cap="none" strike="noStrike">
              <a:solidFill>
                <a:srgbClr val="000000"/>
              </a:solidFill>
              <a:latin typeface="Arial"/>
              <a:ea typeface="Arial"/>
              <a:cs typeface="Arial"/>
              <a:sym typeface="Arial"/>
            </a:endParaRPr>
          </a:p>
        </p:txBody>
      </p:sp>
      <p:sp>
        <p:nvSpPr>
          <p:cNvPr id="104" name="Google Shape;104;g3fa65a0c9aa_1_42"/>
          <p:cNvSpPr txBox="1"/>
          <p:nvPr/>
        </p:nvSpPr>
        <p:spPr>
          <a:xfrm>
            <a:off x="2491385" y="2411439"/>
            <a:ext cx="6181500" cy="573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491" u="none" cap="none" strike="noStrike">
                <a:solidFill>
                  <a:srgbClr val="1E293B"/>
                </a:solidFill>
                <a:latin typeface="Lato"/>
                <a:ea typeface="Lato"/>
                <a:cs typeface="Lato"/>
                <a:sym typeface="Lato"/>
              </a:rPr>
              <a:t>Plataforma de "Inteligencia Operacional" orientada al control y trazabilidad de software.</a:t>
            </a:r>
            <a:endParaRPr sz="1491"/>
          </a:p>
        </p:txBody>
      </p:sp>
      <p:sp>
        <p:nvSpPr>
          <p:cNvPr id="105" name="Google Shape;105;g3fa65a0c9aa_1_42"/>
          <p:cNvSpPr txBox="1"/>
          <p:nvPr/>
        </p:nvSpPr>
        <p:spPr>
          <a:xfrm>
            <a:off x="2917360" y="3121396"/>
            <a:ext cx="7024200" cy="614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597" u="none" cap="none" strike="noStrike">
                <a:solidFill>
                  <a:srgbClr val="0F172A"/>
                </a:solidFill>
                <a:latin typeface="Lato"/>
                <a:ea typeface="Lato"/>
                <a:cs typeface="Lato"/>
                <a:sym typeface="Lato"/>
              </a:rPr>
              <a:t>Estructura Jerárquica:</a:t>
            </a:r>
            <a:r>
              <a:rPr b="0" i="0" lang="en-US" sz="1597" u="none" cap="none" strike="noStrike">
                <a:solidFill>
                  <a:srgbClr val="334155"/>
                </a:solidFill>
                <a:latin typeface="Lato"/>
                <a:ea typeface="Lato"/>
                <a:cs typeface="Lato"/>
                <a:sym typeface="Lato"/>
              </a:rPr>
              <a:t> </a:t>
            </a:r>
            <a:endParaRPr b="0" i="0" sz="1597" u="none" cap="none" strike="noStrike">
              <a:solidFill>
                <a:srgbClr val="334155"/>
              </a:solidFill>
              <a:latin typeface="Lato"/>
              <a:ea typeface="Lato"/>
              <a:cs typeface="Lato"/>
              <a:sym typeface="Lato"/>
            </a:endParaRPr>
          </a:p>
          <a:p>
            <a:pPr indent="0" lvl="0" marL="0" marR="0" rtl="0" algn="l">
              <a:lnSpc>
                <a:spcPct val="149960"/>
              </a:lnSpc>
              <a:spcBef>
                <a:spcPts val="0"/>
              </a:spcBef>
              <a:spcAft>
                <a:spcPts val="0"/>
              </a:spcAft>
              <a:buNone/>
            </a:pPr>
            <a:r>
              <a:rPr b="0" i="0" lang="en-US" sz="1597" u="none" cap="none" strike="noStrike">
                <a:solidFill>
                  <a:srgbClr val="334155"/>
                </a:solidFill>
                <a:latin typeface="Lato"/>
                <a:ea typeface="Lato"/>
                <a:cs typeface="Lato"/>
                <a:sym typeface="Lato"/>
              </a:rPr>
              <a:t>Organiza el trabajo en Aplicaciones → Épicas → Tickets → Subtareas.</a:t>
            </a:r>
            <a:endParaRPr sz="1597"/>
          </a:p>
        </p:txBody>
      </p:sp>
      <p:sp>
        <p:nvSpPr>
          <p:cNvPr id="106" name="Google Shape;106;g3fa65a0c9aa_1_42"/>
          <p:cNvSpPr txBox="1"/>
          <p:nvPr/>
        </p:nvSpPr>
        <p:spPr>
          <a:xfrm>
            <a:off x="2917360" y="3950000"/>
            <a:ext cx="6503700" cy="614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597" u="none" cap="none" strike="noStrike">
                <a:solidFill>
                  <a:srgbClr val="0F172A"/>
                </a:solidFill>
                <a:latin typeface="Lato"/>
                <a:ea typeface="Lato"/>
                <a:cs typeface="Lato"/>
                <a:sym typeface="Lato"/>
              </a:rPr>
              <a:t>Trazabilidad del Actor:</a:t>
            </a:r>
            <a:r>
              <a:rPr b="0" i="0" lang="en-US" sz="1597" u="none" cap="none" strike="noStrike">
                <a:solidFill>
                  <a:srgbClr val="334155"/>
                </a:solidFill>
                <a:latin typeface="Lato"/>
                <a:ea typeface="Lato"/>
                <a:cs typeface="Lato"/>
                <a:sym typeface="Lato"/>
              </a:rPr>
              <a:t> Centrada en la fluidez de interacción y auditoría precisa de cada desarrollador.</a:t>
            </a:r>
            <a:endParaRPr sz="1597"/>
          </a:p>
        </p:txBody>
      </p:sp>
      <p:sp>
        <p:nvSpPr>
          <p:cNvPr id="107" name="Google Shape;107;g3fa65a0c9aa_1_42"/>
          <p:cNvSpPr txBox="1"/>
          <p:nvPr/>
        </p:nvSpPr>
        <p:spPr>
          <a:xfrm>
            <a:off x="2917360" y="4778603"/>
            <a:ext cx="7024200" cy="614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597" u="none" cap="none" strike="noStrike">
                <a:solidFill>
                  <a:srgbClr val="0F172A"/>
                </a:solidFill>
                <a:latin typeface="Lato"/>
                <a:ea typeface="Lato"/>
                <a:cs typeface="Lato"/>
                <a:sym typeface="Lato"/>
              </a:rPr>
              <a:t>Versión 1.0 Existente:</a:t>
            </a:r>
            <a:r>
              <a:rPr b="0" i="0" lang="en-US" sz="1597" u="none" cap="none" strike="noStrike">
                <a:solidFill>
                  <a:srgbClr val="334155"/>
                </a:solidFill>
                <a:latin typeface="Lato"/>
                <a:ea typeface="Lato"/>
                <a:cs typeface="Lato"/>
                <a:sym typeface="Lato"/>
              </a:rPr>
              <a:t> Construida en 10 sprints semanales por 4 desarrolladores; funciona como ticketera de referencia del ecosistema.</a:t>
            </a:r>
            <a:endParaRPr sz="1597"/>
          </a:p>
        </p:txBody>
      </p:sp>
      <p:sp>
        <p:nvSpPr>
          <p:cNvPr id="108" name="Google Shape;108;g3fa65a0c9aa_1_42"/>
          <p:cNvSpPr txBox="1"/>
          <p:nvPr/>
        </p:nvSpPr>
        <p:spPr>
          <a:xfrm>
            <a:off x="2917360" y="5607206"/>
            <a:ext cx="7024200" cy="6144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None/>
            </a:pPr>
            <a:r>
              <a:rPr b="1" i="0" lang="en-US" sz="1597" u="none" cap="none" strike="noStrike">
                <a:solidFill>
                  <a:srgbClr val="0F172A"/>
                </a:solidFill>
                <a:latin typeface="Lato"/>
                <a:ea typeface="Lato"/>
                <a:cs typeface="Lato"/>
                <a:sym typeface="Lato"/>
              </a:rPr>
              <a:t>Objetivo de Continuidad:</a:t>
            </a:r>
            <a:r>
              <a:rPr b="0" i="0" lang="en-US" sz="1597" u="none" cap="none" strike="noStrike">
                <a:solidFill>
                  <a:srgbClr val="334155"/>
                </a:solidFill>
                <a:latin typeface="Lato"/>
                <a:ea typeface="Lato"/>
                <a:cs typeface="Lato"/>
                <a:sym typeface="Lato"/>
              </a:rPr>
              <a:t> Evolucionar de un sistema de seguimiento funcional a una herramienta de gestión competitiva.</a:t>
            </a:r>
            <a:endParaRPr sz="1597"/>
          </a:p>
        </p:txBody>
      </p:sp>
      <p:pic>
        <p:nvPicPr>
          <p:cNvPr descr="image.png" id="109" name="Google Shape;109;g3fa65a0c9aa_1_42"/>
          <p:cNvPicPr preferRelativeResize="0"/>
          <p:nvPr/>
        </p:nvPicPr>
        <p:blipFill rotWithShape="1">
          <a:blip r:embed="rId4">
            <a:alphaModFix/>
          </a:blip>
          <a:srcRect b="0" l="0" r="0" t="0"/>
          <a:stretch/>
        </p:blipFill>
        <p:spPr>
          <a:xfrm>
            <a:off x="2491385" y="3136610"/>
            <a:ext cx="253556" cy="233272"/>
          </a:xfrm>
          <a:prstGeom prst="rect">
            <a:avLst/>
          </a:prstGeom>
          <a:noFill/>
          <a:ln>
            <a:noFill/>
          </a:ln>
        </p:spPr>
      </p:pic>
      <p:pic>
        <p:nvPicPr>
          <p:cNvPr descr="image.png" id="110" name="Google Shape;110;g3fa65a0c9aa_1_42"/>
          <p:cNvPicPr preferRelativeResize="0"/>
          <p:nvPr/>
        </p:nvPicPr>
        <p:blipFill rotWithShape="1">
          <a:blip r:embed="rId5">
            <a:alphaModFix/>
          </a:blip>
          <a:srcRect b="0" l="0" r="0" t="0"/>
          <a:stretch/>
        </p:blipFill>
        <p:spPr>
          <a:xfrm>
            <a:off x="2491385" y="3965213"/>
            <a:ext cx="283983" cy="233272"/>
          </a:xfrm>
          <a:prstGeom prst="rect">
            <a:avLst/>
          </a:prstGeom>
          <a:noFill/>
          <a:ln>
            <a:noFill/>
          </a:ln>
        </p:spPr>
      </p:pic>
      <p:pic>
        <p:nvPicPr>
          <p:cNvPr descr="image.png" id="111" name="Google Shape;111;g3fa65a0c9aa_1_42"/>
          <p:cNvPicPr preferRelativeResize="0"/>
          <p:nvPr/>
        </p:nvPicPr>
        <p:blipFill rotWithShape="1">
          <a:blip r:embed="rId6">
            <a:alphaModFix/>
          </a:blip>
          <a:srcRect b="0" l="0" r="0" t="0"/>
          <a:stretch/>
        </p:blipFill>
        <p:spPr>
          <a:xfrm>
            <a:off x="2491385" y="4793816"/>
            <a:ext cx="223130" cy="233272"/>
          </a:xfrm>
          <a:prstGeom prst="rect">
            <a:avLst/>
          </a:prstGeom>
          <a:noFill/>
          <a:ln>
            <a:noFill/>
          </a:ln>
        </p:spPr>
      </p:pic>
      <p:pic>
        <p:nvPicPr>
          <p:cNvPr descr="image.png" id="112" name="Google Shape;112;g3fa65a0c9aa_1_42"/>
          <p:cNvPicPr preferRelativeResize="0"/>
          <p:nvPr/>
        </p:nvPicPr>
        <p:blipFill rotWithShape="1">
          <a:blip r:embed="rId7">
            <a:alphaModFix/>
          </a:blip>
          <a:srcRect b="0" l="0" r="0" t="0"/>
          <a:stretch/>
        </p:blipFill>
        <p:spPr>
          <a:xfrm>
            <a:off x="2491385" y="5622419"/>
            <a:ext cx="223130" cy="233272"/>
          </a:xfrm>
          <a:prstGeom prst="rect">
            <a:avLst/>
          </a:prstGeom>
          <a:noFill/>
          <a:ln>
            <a:noFill/>
          </a:ln>
        </p:spPr>
      </p:pic>
      <p:pic>
        <p:nvPicPr>
          <p:cNvPr descr="image.png" id="113" name="Google Shape;113;g3fa65a0c9aa_1_42"/>
          <p:cNvPicPr preferRelativeResize="0"/>
          <p:nvPr/>
        </p:nvPicPr>
        <p:blipFill rotWithShape="1">
          <a:blip r:embed="rId8">
            <a:alphaModFix/>
          </a:blip>
          <a:srcRect b="0" l="0" r="0" t="0"/>
          <a:stretch/>
        </p:blipFill>
        <p:spPr>
          <a:xfrm>
            <a:off x="2491372" y="1910243"/>
            <a:ext cx="274167" cy="2701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pic>
        <p:nvPicPr>
          <p:cNvPr descr="image.png" id="118" name="Google Shape;118;p2"/>
          <p:cNvPicPr preferRelativeResize="0"/>
          <p:nvPr/>
        </p:nvPicPr>
        <p:blipFill rotWithShape="1">
          <a:blip r:embed="rId3">
            <a:alphaModFix/>
          </a:blip>
          <a:srcRect b="0" l="0" r="0" t="0"/>
          <a:stretch/>
        </p:blipFill>
        <p:spPr>
          <a:xfrm>
            <a:off x="436950" y="1533300"/>
            <a:ext cx="5410200" cy="4693375"/>
          </a:xfrm>
          <a:prstGeom prst="rect">
            <a:avLst/>
          </a:prstGeom>
          <a:noFill/>
          <a:ln>
            <a:noFill/>
          </a:ln>
        </p:spPr>
      </p:pic>
      <p:pic>
        <p:nvPicPr>
          <p:cNvPr descr="image.png" id="119" name="Google Shape;119;p2"/>
          <p:cNvPicPr preferRelativeResize="0"/>
          <p:nvPr/>
        </p:nvPicPr>
        <p:blipFill rotWithShape="1">
          <a:blip r:embed="rId3">
            <a:alphaModFix/>
          </a:blip>
          <a:srcRect b="0" l="0" r="0" t="0"/>
          <a:stretch/>
        </p:blipFill>
        <p:spPr>
          <a:xfrm>
            <a:off x="6241875" y="1533300"/>
            <a:ext cx="5410200" cy="4693375"/>
          </a:xfrm>
          <a:prstGeom prst="rect">
            <a:avLst/>
          </a:prstGeom>
          <a:noFill/>
          <a:ln>
            <a:noFill/>
          </a:ln>
        </p:spPr>
      </p:pic>
      <p:sp>
        <p:nvSpPr>
          <p:cNvPr id="120" name="Google Shape;120;p2"/>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Desafíos Operacionales</a:t>
            </a:r>
            <a:endParaRPr b="0" i="0" sz="1400" u="none" cap="none" strike="noStrike">
              <a:solidFill>
                <a:srgbClr val="000000"/>
              </a:solidFill>
              <a:latin typeface="Arial"/>
              <a:ea typeface="Arial"/>
              <a:cs typeface="Arial"/>
              <a:sym typeface="Arial"/>
            </a:endParaRPr>
          </a:p>
        </p:txBody>
      </p:sp>
      <p:sp>
        <p:nvSpPr>
          <p:cNvPr id="121" name="Google Shape;121;p2"/>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628375" y="1789350"/>
            <a:ext cx="3554100" cy="307500"/>
          </a:xfrm>
          <a:prstGeom prst="rect">
            <a:avLst/>
          </a:prstGeom>
          <a:noFill/>
          <a:ln>
            <a:noFill/>
          </a:ln>
        </p:spPr>
        <p:txBody>
          <a:bodyPr anchorCtr="0" anchor="t" bIns="0" lIns="365950" spcFirstLastPara="1" rIns="0" wrap="square" tIns="0">
            <a:spAutoFit/>
          </a:bodyPr>
          <a:lstStyle/>
          <a:p>
            <a:pPr indent="0" lvl="0" marL="0" marR="0" rtl="0" algn="l">
              <a:lnSpc>
                <a:spcPct val="100000"/>
              </a:lnSpc>
              <a:spcBef>
                <a:spcPts val="0"/>
              </a:spcBef>
              <a:spcAft>
                <a:spcPts val="0"/>
              </a:spcAft>
              <a:buClr>
                <a:srgbClr val="000000"/>
              </a:buClr>
              <a:buSzPts val="1998"/>
              <a:buFont typeface="Arial"/>
              <a:buNone/>
            </a:pPr>
            <a:r>
              <a:rPr b="1" i="0" lang="en-US" sz="1998" u="none" cap="none" strike="noStrike">
                <a:solidFill>
                  <a:srgbClr val="1E293B"/>
                </a:solidFill>
                <a:latin typeface="Poppins"/>
                <a:ea typeface="Poppins"/>
                <a:cs typeface="Poppins"/>
                <a:sym typeface="Poppins"/>
              </a:rPr>
              <a:t>La Problemática Actual</a:t>
            </a:r>
            <a:endParaRPr b="0" i="0" sz="1992" u="none" cap="none" strike="noStrike">
              <a:solidFill>
                <a:srgbClr val="000000"/>
              </a:solidFill>
              <a:latin typeface="Arial"/>
              <a:ea typeface="Arial"/>
              <a:cs typeface="Arial"/>
              <a:sym typeface="Arial"/>
            </a:endParaRPr>
          </a:p>
        </p:txBody>
      </p:sp>
      <p:sp>
        <p:nvSpPr>
          <p:cNvPr id="123" name="Google Shape;123;p2"/>
          <p:cNvSpPr txBox="1"/>
          <p:nvPr/>
        </p:nvSpPr>
        <p:spPr>
          <a:xfrm>
            <a:off x="6562465" y="1797975"/>
            <a:ext cx="2543400" cy="307500"/>
          </a:xfrm>
          <a:prstGeom prst="rect">
            <a:avLst/>
          </a:prstGeom>
          <a:noFill/>
          <a:ln>
            <a:noFill/>
          </a:ln>
        </p:spPr>
        <p:txBody>
          <a:bodyPr anchorCtr="0" anchor="t" bIns="0" lIns="257500" spcFirstLastPara="1" rIns="0" wrap="square" tIns="0">
            <a:spAutoFit/>
          </a:bodyPr>
          <a:lstStyle/>
          <a:p>
            <a:pPr indent="0" lvl="0" marL="0" marR="0" rtl="0" algn="l">
              <a:lnSpc>
                <a:spcPct val="100000"/>
              </a:lnSpc>
              <a:spcBef>
                <a:spcPts val="0"/>
              </a:spcBef>
              <a:spcAft>
                <a:spcPts val="0"/>
              </a:spcAft>
              <a:buClr>
                <a:srgbClr val="000000"/>
              </a:buClr>
              <a:buSzPts val="1998"/>
              <a:buFont typeface="Arial"/>
              <a:buNone/>
            </a:pPr>
            <a:r>
              <a:rPr b="1" i="0" lang="en-US" sz="1998" u="none" cap="none" strike="noStrike">
                <a:solidFill>
                  <a:srgbClr val="0F172A"/>
                </a:solidFill>
                <a:latin typeface="Poppins"/>
                <a:ea typeface="Poppins"/>
                <a:cs typeface="Poppins"/>
                <a:sym typeface="Poppins"/>
              </a:rPr>
              <a:t>Misión del Equipo</a:t>
            </a:r>
            <a:endParaRPr b="0" i="0" sz="1992" u="none" cap="none" strike="noStrike">
              <a:solidFill>
                <a:srgbClr val="000000"/>
              </a:solidFill>
              <a:latin typeface="Arial"/>
              <a:ea typeface="Arial"/>
              <a:cs typeface="Arial"/>
              <a:sym typeface="Arial"/>
            </a:endParaRPr>
          </a:p>
        </p:txBody>
      </p:sp>
      <p:sp>
        <p:nvSpPr>
          <p:cNvPr id="124" name="Google Shape;124;p2"/>
          <p:cNvSpPr txBox="1"/>
          <p:nvPr/>
        </p:nvSpPr>
        <p:spPr>
          <a:xfrm>
            <a:off x="6498975" y="2287350"/>
            <a:ext cx="4896000" cy="40740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u="none" cap="none" strike="noStrike">
                <a:solidFill>
                  <a:srgbClr val="334155"/>
                </a:solidFill>
                <a:latin typeface="Lato"/>
                <a:ea typeface="Lato"/>
                <a:cs typeface="Lato"/>
                <a:sym typeface="Lato"/>
              </a:rPr>
              <a:t>Evolucionar el núcleo funcional de CoreStream orientado al usuario final, garantizando la trazabilidad desde la aplicación hasta las subtareas y elevando la calidad de la experiencia de usuario.</a:t>
            </a:r>
            <a:endParaRPr b="0" i="0" u="none" cap="none" strike="noStrike">
              <a:solidFill>
                <a:srgbClr val="334155"/>
              </a:solidFill>
              <a:latin typeface="Lato"/>
              <a:ea typeface="Lato"/>
              <a:cs typeface="Lato"/>
              <a:sym typeface="Lato"/>
            </a:endParaRPr>
          </a:p>
          <a:p>
            <a:pPr indent="0" lvl="0" marL="0" marR="0" rtl="0" algn="l">
              <a:lnSpc>
                <a:spcPct val="149960"/>
              </a:lnSpc>
              <a:spcBef>
                <a:spcPts val="0"/>
              </a:spcBef>
              <a:spcAft>
                <a:spcPts val="0"/>
              </a:spcAft>
              <a:buClr>
                <a:srgbClr val="000000"/>
              </a:buClr>
              <a:buSzPts val="1275"/>
              <a:buFont typeface="Arial"/>
              <a:buNone/>
            </a:pPr>
            <a:r>
              <a:t/>
            </a:r>
            <a:endParaRPr b="0" i="0" u="none" cap="none" strike="noStrike">
              <a:solidFill>
                <a:srgbClr val="334155"/>
              </a:solidFill>
              <a:latin typeface="Lato"/>
              <a:ea typeface="Lato"/>
              <a:cs typeface="Lato"/>
              <a:sym typeface="Lato"/>
            </a:endParaRPr>
          </a:p>
          <a:p>
            <a:pPr indent="0" lvl="0" marL="0" marR="0" rtl="0" algn="l">
              <a:lnSpc>
                <a:spcPct val="149960"/>
              </a:lnSpc>
              <a:spcBef>
                <a:spcPts val="0"/>
              </a:spcBef>
              <a:spcAft>
                <a:spcPts val="0"/>
              </a:spcAft>
              <a:buClr>
                <a:srgbClr val="000000"/>
              </a:buClr>
              <a:buSzPts val="1100"/>
              <a:buFont typeface="Arial"/>
              <a:buNone/>
            </a:pPr>
            <a:r>
              <a:rPr b="1" i="0" lang="en-US" u="none" cap="none" strike="noStrike">
                <a:solidFill>
                  <a:srgbClr val="0F172A"/>
                </a:solidFill>
                <a:latin typeface="Poppins"/>
                <a:ea typeface="Poppins"/>
                <a:cs typeface="Poppins"/>
                <a:sym typeface="Poppins"/>
              </a:rPr>
              <a:t>Objetivos</a:t>
            </a:r>
            <a:endParaRPr b="0" i="0" u="none" cap="none" strike="noStrike">
              <a:solidFill>
                <a:srgbClr val="334155"/>
              </a:solidFill>
              <a:latin typeface="Lato"/>
              <a:ea typeface="Lato"/>
              <a:cs typeface="Lato"/>
              <a:sym typeface="Lato"/>
            </a:endParaRPr>
          </a:p>
          <a:p>
            <a:pPr indent="-317500" lvl="0" marL="457200" marR="0" rtl="0" algn="l">
              <a:lnSpc>
                <a:spcPct val="149960"/>
              </a:lnSpc>
              <a:spcBef>
                <a:spcPts val="0"/>
              </a:spcBef>
              <a:spcAft>
                <a:spcPts val="0"/>
              </a:spcAft>
              <a:buClr>
                <a:srgbClr val="334155"/>
              </a:buClr>
              <a:buSzPts val="1400"/>
              <a:buFont typeface="Lato"/>
              <a:buChar char="●"/>
            </a:pPr>
            <a:r>
              <a:rPr b="0" i="0" lang="en-US" u="none" cap="none" strike="noStrike">
                <a:solidFill>
                  <a:srgbClr val="334155"/>
                </a:solidFill>
                <a:latin typeface="Lato"/>
                <a:ea typeface="Lato"/>
                <a:cs typeface="Lato"/>
                <a:sym typeface="Lato"/>
              </a:rPr>
              <a:t>Mejorar la organización del trabajo.</a:t>
            </a:r>
            <a:endParaRPr b="0" i="0" u="none" cap="none" strike="noStrike">
              <a:solidFill>
                <a:srgbClr val="334155"/>
              </a:solidFill>
              <a:latin typeface="Lato"/>
              <a:ea typeface="Lato"/>
              <a:cs typeface="Lato"/>
              <a:sym typeface="Lato"/>
            </a:endParaRPr>
          </a:p>
          <a:p>
            <a:pPr indent="-317500" lvl="0" marL="457200" marR="0" rtl="0" algn="l">
              <a:lnSpc>
                <a:spcPct val="149960"/>
              </a:lnSpc>
              <a:spcBef>
                <a:spcPts val="0"/>
              </a:spcBef>
              <a:spcAft>
                <a:spcPts val="0"/>
              </a:spcAft>
              <a:buClr>
                <a:srgbClr val="334155"/>
              </a:buClr>
              <a:buSzPts val="1400"/>
              <a:buFont typeface="Lato"/>
              <a:buChar char="●"/>
            </a:pPr>
            <a:r>
              <a:rPr b="0" i="0" lang="en-US" u="none" cap="none" strike="noStrike">
                <a:solidFill>
                  <a:srgbClr val="334155"/>
                </a:solidFill>
                <a:latin typeface="Lato"/>
                <a:ea typeface="Lato"/>
                <a:cs typeface="Lato"/>
                <a:sym typeface="Lato"/>
              </a:rPr>
              <a:t>Mantener trazabilidad.</a:t>
            </a:r>
            <a:endParaRPr b="0" i="0" u="none" cap="none" strike="noStrike">
              <a:solidFill>
                <a:srgbClr val="334155"/>
              </a:solidFill>
              <a:latin typeface="Lato"/>
              <a:ea typeface="Lato"/>
              <a:cs typeface="Lato"/>
              <a:sym typeface="Lato"/>
            </a:endParaRPr>
          </a:p>
          <a:p>
            <a:pPr indent="-317500" lvl="0" marL="457200" marR="0" rtl="0" algn="l">
              <a:lnSpc>
                <a:spcPct val="149960"/>
              </a:lnSpc>
              <a:spcBef>
                <a:spcPts val="0"/>
              </a:spcBef>
              <a:spcAft>
                <a:spcPts val="0"/>
              </a:spcAft>
              <a:buClr>
                <a:srgbClr val="334155"/>
              </a:buClr>
              <a:buSzPts val="1400"/>
              <a:buFont typeface="Lato"/>
              <a:buChar char="●"/>
            </a:pPr>
            <a:r>
              <a:rPr b="0" i="0" lang="en-US" u="none" cap="none" strike="noStrike">
                <a:solidFill>
                  <a:srgbClr val="334155"/>
                </a:solidFill>
                <a:latin typeface="Lato"/>
                <a:ea typeface="Lato"/>
                <a:cs typeface="Lato"/>
                <a:sym typeface="Lato"/>
              </a:rPr>
              <a:t>Detectar bloqueos.</a:t>
            </a:r>
            <a:endParaRPr b="0" i="0" u="none" cap="none" strike="noStrike">
              <a:solidFill>
                <a:srgbClr val="334155"/>
              </a:solidFill>
              <a:latin typeface="Lato"/>
              <a:ea typeface="Lato"/>
              <a:cs typeface="Lato"/>
              <a:sym typeface="Lato"/>
            </a:endParaRPr>
          </a:p>
          <a:p>
            <a:pPr indent="-317500" lvl="0" marL="457200" marR="0" rtl="0" algn="l">
              <a:lnSpc>
                <a:spcPct val="149960"/>
              </a:lnSpc>
              <a:spcBef>
                <a:spcPts val="0"/>
              </a:spcBef>
              <a:spcAft>
                <a:spcPts val="0"/>
              </a:spcAft>
              <a:buClr>
                <a:srgbClr val="334155"/>
              </a:buClr>
              <a:buSzPts val="1400"/>
              <a:buFont typeface="Lato"/>
              <a:buChar char="●"/>
            </a:pPr>
            <a:r>
              <a:rPr b="0" i="0" lang="en-US" u="none" cap="none" strike="noStrike">
                <a:solidFill>
                  <a:srgbClr val="334155"/>
                </a:solidFill>
                <a:latin typeface="Lato"/>
                <a:ea typeface="Lato"/>
                <a:cs typeface="Lato"/>
                <a:sym typeface="Lato"/>
              </a:rPr>
              <a:t>Facilitar la colaboración.</a:t>
            </a:r>
            <a:endParaRPr b="0" i="0" u="none" cap="none" strike="noStrike">
              <a:solidFill>
                <a:srgbClr val="334155"/>
              </a:solidFill>
              <a:latin typeface="Lato"/>
              <a:ea typeface="Lato"/>
              <a:cs typeface="Lato"/>
              <a:sym typeface="Lato"/>
            </a:endParaRPr>
          </a:p>
          <a:p>
            <a:pPr indent="-317500" lvl="0" marL="457200" marR="0" rtl="0" algn="l">
              <a:lnSpc>
                <a:spcPct val="149960"/>
              </a:lnSpc>
              <a:spcBef>
                <a:spcPts val="0"/>
              </a:spcBef>
              <a:spcAft>
                <a:spcPts val="0"/>
              </a:spcAft>
              <a:buClr>
                <a:srgbClr val="334155"/>
              </a:buClr>
              <a:buSzPts val="1400"/>
              <a:buFont typeface="Lato"/>
              <a:buChar char="●"/>
            </a:pPr>
            <a:r>
              <a:rPr b="0" i="0" lang="en-US" u="none" cap="none" strike="noStrike">
                <a:solidFill>
                  <a:srgbClr val="334155"/>
                </a:solidFill>
                <a:latin typeface="Lato"/>
                <a:ea typeface="Lato"/>
                <a:cs typeface="Lato"/>
                <a:sym typeface="Lato"/>
              </a:rPr>
              <a:t>Generar métricas.</a:t>
            </a:r>
            <a:endParaRPr b="0" i="0" u="none" cap="none" strike="noStrike">
              <a:solidFill>
                <a:srgbClr val="334155"/>
              </a:solidFill>
              <a:latin typeface="Lato"/>
              <a:ea typeface="Lato"/>
              <a:cs typeface="Lato"/>
              <a:sym typeface="Lato"/>
            </a:endParaRPr>
          </a:p>
          <a:p>
            <a:pPr indent="-317500" lvl="0" marL="457200" marR="0" rtl="0" algn="l">
              <a:lnSpc>
                <a:spcPct val="149960"/>
              </a:lnSpc>
              <a:spcBef>
                <a:spcPts val="0"/>
              </a:spcBef>
              <a:spcAft>
                <a:spcPts val="0"/>
              </a:spcAft>
              <a:buClr>
                <a:srgbClr val="334155"/>
              </a:buClr>
              <a:buSzPts val="1400"/>
              <a:buFont typeface="Lato"/>
              <a:buChar char="●"/>
            </a:pPr>
            <a:r>
              <a:rPr b="0" i="0" lang="en-US" u="none" cap="none" strike="noStrike">
                <a:solidFill>
                  <a:srgbClr val="334155"/>
                </a:solidFill>
                <a:latin typeface="Lato"/>
                <a:ea typeface="Lato"/>
                <a:cs typeface="Lato"/>
                <a:sym typeface="Lato"/>
              </a:rPr>
              <a:t>Automatizar procesos.</a:t>
            </a:r>
            <a:endParaRPr b="0" i="0" u="none" cap="none" strike="noStrike">
              <a:solidFill>
                <a:srgbClr val="334155"/>
              </a:solidFill>
              <a:latin typeface="Lato"/>
              <a:ea typeface="Lato"/>
              <a:cs typeface="Lato"/>
              <a:sym typeface="Lato"/>
            </a:endParaRPr>
          </a:p>
          <a:p>
            <a:pPr indent="0" lvl="0" marL="0" marR="0" rtl="0" algn="l">
              <a:lnSpc>
                <a:spcPct val="149960"/>
              </a:lnSpc>
              <a:spcBef>
                <a:spcPts val="0"/>
              </a:spcBef>
              <a:spcAft>
                <a:spcPts val="0"/>
              </a:spcAft>
              <a:buClr>
                <a:srgbClr val="000000"/>
              </a:buClr>
              <a:buSzPts val="1275"/>
              <a:buFont typeface="Arial"/>
              <a:buNone/>
            </a:pPr>
            <a:r>
              <a:t/>
            </a:r>
            <a:endParaRPr b="0" i="0" sz="1275" u="none" cap="none" strike="noStrike">
              <a:solidFill>
                <a:srgbClr val="334155"/>
              </a:solidFill>
              <a:latin typeface="Lato"/>
              <a:ea typeface="Lato"/>
              <a:cs typeface="Lato"/>
              <a:sym typeface="Lato"/>
            </a:endParaRPr>
          </a:p>
        </p:txBody>
      </p:sp>
      <p:pic>
        <p:nvPicPr>
          <p:cNvPr descr="image.png" id="125" name="Google Shape;125;p2"/>
          <p:cNvPicPr preferRelativeResize="0"/>
          <p:nvPr/>
        </p:nvPicPr>
        <p:blipFill rotWithShape="1">
          <a:blip r:embed="rId4">
            <a:alphaModFix/>
          </a:blip>
          <a:srcRect b="0" l="0" r="0" t="0"/>
          <a:stretch/>
        </p:blipFill>
        <p:spPr>
          <a:xfrm>
            <a:off x="628375" y="1824870"/>
            <a:ext cx="257512" cy="253700"/>
          </a:xfrm>
          <a:prstGeom prst="rect">
            <a:avLst/>
          </a:prstGeom>
          <a:noFill/>
          <a:ln>
            <a:noFill/>
          </a:ln>
        </p:spPr>
      </p:pic>
      <p:pic>
        <p:nvPicPr>
          <p:cNvPr descr="image.png" id="126" name="Google Shape;126;p2"/>
          <p:cNvPicPr preferRelativeResize="0"/>
          <p:nvPr/>
        </p:nvPicPr>
        <p:blipFill rotWithShape="1">
          <a:blip r:embed="rId5">
            <a:alphaModFix/>
          </a:blip>
          <a:srcRect b="0" l="0" r="0" t="0"/>
          <a:stretch/>
        </p:blipFill>
        <p:spPr>
          <a:xfrm>
            <a:off x="6498975" y="1824794"/>
            <a:ext cx="257481" cy="253670"/>
          </a:xfrm>
          <a:prstGeom prst="rect">
            <a:avLst/>
          </a:prstGeom>
          <a:noFill/>
          <a:ln>
            <a:noFill/>
          </a:ln>
        </p:spPr>
      </p:pic>
      <p:sp>
        <p:nvSpPr>
          <p:cNvPr id="127" name="Google Shape;127;p2"/>
          <p:cNvSpPr txBox="1"/>
          <p:nvPr/>
        </p:nvSpPr>
        <p:spPr>
          <a:xfrm>
            <a:off x="838200" y="2502900"/>
            <a:ext cx="4786800" cy="577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1" i="0" lang="en-US" sz="1500" u="none" cap="none" strike="noStrike">
                <a:solidFill>
                  <a:srgbClr val="334155"/>
                </a:solidFill>
                <a:latin typeface="Lato"/>
                <a:ea typeface="Lato"/>
                <a:cs typeface="Lato"/>
                <a:sym typeface="Lato"/>
              </a:rPr>
              <a:t>Falta de Trazabilidad:</a:t>
            </a:r>
            <a:r>
              <a:rPr b="0" i="0" lang="en-US" sz="1500" u="none" cap="none" strike="noStrike">
                <a:solidFill>
                  <a:srgbClr val="334155"/>
                </a:solidFill>
                <a:latin typeface="Lato"/>
                <a:ea typeface="Lato"/>
                <a:cs typeface="Lato"/>
                <a:sym typeface="Lato"/>
              </a:rPr>
              <a:t> Múltiples proyectos e incidencias sufren de pérdida de contexto durante su ejecución.</a:t>
            </a:r>
            <a:endParaRPr b="0" i="0" sz="1500" u="none" cap="none" strike="noStrike">
              <a:solidFill>
                <a:srgbClr val="000000"/>
              </a:solidFill>
              <a:latin typeface="Arial"/>
              <a:ea typeface="Arial"/>
              <a:cs typeface="Arial"/>
              <a:sym typeface="Arial"/>
            </a:endParaRPr>
          </a:p>
        </p:txBody>
      </p:sp>
      <p:sp>
        <p:nvSpPr>
          <p:cNvPr id="128" name="Google Shape;128;p2"/>
          <p:cNvSpPr txBox="1"/>
          <p:nvPr/>
        </p:nvSpPr>
        <p:spPr>
          <a:xfrm>
            <a:off x="838200" y="3429000"/>
            <a:ext cx="4786800" cy="577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1" i="0" lang="en-US" sz="1500" u="none" cap="none" strike="noStrike">
                <a:solidFill>
                  <a:srgbClr val="334155"/>
                </a:solidFill>
                <a:latin typeface="Lato"/>
                <a:ea typeface="Lato"/>
                <a:cs typeface="Lato"/>
                <a:sym typeface="Lato"/>
              </a:rPr>
              <a:t>Bloqueos Invisibles:</a:t>
            </a:r>
            <a:r>
              <a:rPr b="0" i="0" lang="en-US" sz="1500" u="none" cap="none" strike="noStrike">
                <a:solidFill>
                  <a:srgbClr val="334155"/>
                </a:solidFill>
                <a:latin typeface="Lato"/>
                <a:ea typeface="Lato"/>
                <a:cs typeface="Lato"/>
                <a:sym typeface="Lato"/>
              </a:rPr>
              <a:t> Detección tardía de cuellos de botella y preguntas sin responder por líderes de equipo.</a:t>
            </a:r>
            <a:endParaRPr b="0" i="0" sz="1500" u="none" cap="none" strike="noStrike">
              <a:solidFill>
                <a:srgbClr val="000000"/>
              </a:solidFill>
              <a:latin typeface="Arial"/>
              <a:ea typeface="Arial"/>
              <a:cs typeface="Arial"/>
              <a:sym typeface="Arial"/>
            </a:endParaRPr>
          </a:p>
        </p:txBody>
      </p:sp>
      <p:sp>
        <p:nvSpPr>
          <p:cNvPr id="129" name="Google Shape;129;p2"/>
          <p:cNvSpPr txBox="1"/>
          <p:nvPr/>
        </p:nvSpPr>
        <p:spPr>
          <a:xfrm>
            <a:off x="838200" y="4355100"/>
            <a:ext cx="4786800" cy="577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1" i="0" lang="en-US" sz="1500" u="none" cap="none" strike="noStrike">
                <a:solidFill>
                  <a:srgbClr val="334155"/>
                </a:solidFill>
                <a:latin typeface="Lato"/>
                <a:ea typeface="Lato"/>
                <a:cs typeface="Lato"/>
                <a:sym typeface="Lato"/>
              </a:rPr>
              <a:t>Carga Administrativa:</a:t>
            </a:r>
            <a:r>
              <a:rPr b="0" i="0" lang="en-US" sz="1500" u="none" cap="none" strike="noStrike">
                <a:solidFill>
                  <a:srgbClr val="334155"/>
                </a:solidFill>
                <a:latin typeface="Lato"/>
                <a:ea typeface="Lato"/>
                <a:cs typeface="Lato"/>
                <a:sym typeface="Lato"/>
              </a:rPr>
              <a:t> Exceso de reportes manuales y falta de visibilidad en la velocidad real de desarrollo.</a:t>
            </a:r>
            <a:endParaRPr b="0" i="0" sz="1500" u="none" cap="none" strike="noStrike">
              <a:solidFill>
                <a:srgbClr val="000000"/>
              </a:solidFill>
              <a:latin typeface="Arial"/>
              <a:ea typeface="Arial"/>
              <a:cs typeface="Arial"/>
              <a:sym typeface="Arial"/>
            </a:endParaRPr>
          </a:p>
        </p:txBody>
      </p:sp>
      <p:sp>
        <p:nvSpPr>
          <p:cNvPr id="130" name="Google Shape;130;p2"/>
          <p:cNvSpPr txBox="1"/>
          <p:nvPr/>
        </p:nvSpPr>
        <p:spPr>
          <a:xfrm>
            <a:off x="838200" y="5281200"/>
            <a:ext cx="4786800" cy="5772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1" i="0" lang="en-US" sz="1500" u="none" cap="none" strike="noStrike">
                <a:solidFill>
                  <a:srgbClr val="334155"/>
                </a:solidFill>
                <a:latin typeface="Lato"/>
                <a:ea typeface="Lato"/>
                <a:cs typeface="Lato"/>
                <a:sym typeface="Lato"/>
              </a:rPr>
              <a:t>Experiencia Fragmentada:</a:t>
            </a:r>
            <a:r>
              <a:rPr b="0" i="0" lang="en-US" sz="1500" u="none" cap="none" strike="noStrike">
                <a:solidFill>
                  <a:srgbClr val="334155"/>
                </a:solidFill>
                <a:latin typeface="Lato"/>
                <a:ea typeface="Lato"/>
                <a:cs typeface="Lato"/>
                <a:sym typeface="Lato"/>
              </a:rPr>
              <a:t> Cadena de textos sin traducir en frontend e inconformidades visuales.</a:t>
            </a:r>
            <a:endParaRPr b="0" i="0" sz="1500" u="none" cap="none" strike="noStrike">
              <a:solidFill>
                <a:srgbClr val="000000"/>
              </a:solidFill>
              <a:latin typeface="Arial"/>
              <a:ea typeface="Arial"/>
              <a:cs typeface="Arial"/>
              <a:sym typeface="Arial"/>
            </a:endParaRPr>
          </a:p>
        </p:txBody>
      </p:sp>
      <p:pic>
        <p:nvPicPr>
          <p:cNvPr descr="image.png" id="131" name="Google Shape;131;p2"/>
          <p:cNvPicPr preferRelativeResize="0"/>
          <p:nvPr/>
        </p:nvPicPr>
        <p:blipFill rotWithShape="1">
          <a:blip r:embed="rId6">
            <a:alphaModFix/>
          </a:blip>
          <a:srcRect b="0" l="0" r="0" t="0"/>
          <a:stretch/>
        </p:blipFill>
        <p:spPr>
          <a:xfrm>
            <a:off x="628375" y="2538325"/>
            <a:ext cx="123825" cy="161925"/>
          </a:xfrm>
          <a:prstGeom prst="rect">
            <a:avLst/>
          </a:prstGeom>
          <a:noFill/>
          <a:ln>
            <a:noFill/>
          </a:ln>
        </p:spPr>
      </p:pic>
      <p:pic>
        <p:nvPicPr>
          <p:cNvPr descr="image.png" id="132" name="Google Shape;132;p2"/>
          <p:cNvPicPr preferRelativeResize="0"/>
          <p:nvPr/>
        </p:nvPicPr>
        <p:blipFill rotWithShape="1">
          <a:blip r:embed="rId6">
            <a:alphaModFix/>
          </a:blip>
          <a:srcRect b="0" l="0" r="0" t="0"/>
          <a:stretch/>
        </p:blipFill>
        <p:spPr>
          <a:xfrm>
            <a:off x="628375" y="3464425"/>
            <a:ext cx="123825" cy="161925"/>
          </a:xfrm>
          <a:prstGeom prst="rect">
            <a:avLst/>
          </a:prstGeom>
          <a:noFill/>
          <a:ln>
            <a:noFill/>
          </a:ln>
        </p:spPr>
      </p:pic>
      <p:pic>
        <p:nvPicPr>
          <p:cNvPr descr="image.png" id="133" name="Google Shape;133;p2"/>
          <p:cNvPicPr preferRelativeResize="0"/>
          <p:nvPr/>
        </p:nvPicPr>
        <p:blipFill rotWithShape="1">
          <a:blip r:embed="rId6">
            <a:alphaModFix/>
          </a:blip>
          <a:srcRect b="0" l="0" r="0" t="0"/>
          <a:stretch/>
        </p:blipFill>
        <p:spPr>
          <a:xfrm>
            <a:off x="628375" y="4390525"/>
            <a:ext cx="123825" cy="161925"/>
          </a:xfrm>
          <a:prstGeom prst="rect">
            <a:avLst/>
          </a:prstGeom>
          <a:noFill/>
          <a:ln>
            <a:noFill/>
          </a:ln>
        </p:spPr>
      </p:pic>
      <p:pic>
        <p:nvPicPr>
          <p:cNvPr descr="image.png" id="134" name="Google Shape;134;p2"/>
          <p:cNvPicPr preferRelativeResize="0"/>
          <p:nvPr/>
        </p:nvPicPr>
        <p:blipFill rotWithShape="1">
          <a:blip r:embed="rId6">
            <a:alphaModFix/>
          </a:blip>
          <a:srcRect b="0" l="0" r="0" t="0"/>
          <a:stretch/>
        </p:blipFill>
        <p:spPr>
          <a:xfrm>
            <a:off x="628375" y="5316625"/>
            <a:ext cx="123825" cy="161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pic>
        <p:nvPicPr>
          <p:cNvPr descr="image.png" id="139" name="Google Shape;139;p3"/>
          <p:cNvPicPr preferRelativeResize="0"/>
          <p:nvPr/>
        </p:nvPicPr>
        <p:blipFill rotWithShape="1">
          <a:blip r:embed="rId3">
            <a:alphaModFix/>
          </a:blip>
          <a:srcRect b="0" l="0" r="0" t="0"/>
          <a:stretch/>
        </p:blipFill>
        <p:spPr>
          <a:xfrm>
            <a:off x="533400" y="2533650"/>
            <a:ext cx="3555950" cy="2714625"/>
          </a:xfrm>
          <a:prstGeom prst="rect">
            <a:avLst/>
          </a:prstGeom>
          <a:noFill/>
          <a:ln>
            <a:noFill/>
          </a:ln>
        </p:spPr>
      </p:pic>
      <p:pic>
        <p:nvPicPr>
          <p:cNvPr descr="image.png" id="140" name="Google Shape;140;p3"/>
          <p:cNvPicPr preferRelativeResize="0"/>
          <p:nvPr/>
        </p:nvPicPr>
        <p:blipFill rotWithShape="1">
          <a:blip r:embed="rId4">
            <a:alphaModFix/>
          </a:blip>
          <a:srcRect b="0" l="0" r="0" t="0"/>
          <a:stretch/>
        </p:blipFill>
        <p:spPr>
          <a:xfrm>
            <a:off x="4317950" y="2533650"/>
            <a:ext cx="3555950" cy="2714625"/>
          </a:xfrm>
          <a:prstGeom prst="rect">
            <a:avLst/>
          </a:prstGeom>
          <a:noFill/>
          <a:ln>
            <a:noFill/>
          </a:ln>
        </p:spPr>
      </p:pic>
      <p:pic>
        <p:nvPicPr>
          <p:cNvPr descr="image.png" id="141" name="Google Shape;141;p3"/>
          <p:cNvPicPr preferRelativeResize="0"/>
          <p:nvPr/>
        </p:nvPicPr>
        <p:blipFill rotWithShape="1">
          <a:blip r:embed="rId5">
            <a:alphaModFix/>
          </a:blip>
          <a:srcRect b="0" l="0" r="0" t="0"/>
          <a:stretch/>
        </p:blipFill>
        <p:spPr>
          <a:xfrm>
            <a:off x="8102500" y="2533650"/>
            <a:ext cx="3556099" cy="2714625"/>
          </a:xfrm>
          <a:prstGeom prst="rect">
            <a:avLst/>
          </a:prstGeom>
          <a:noFill/>
          <a:ln>
            <a:noFill/>
          </a:ln>
        </p:spPr>
      </p:pic>
      <p:sp>
        <p:nvSpPr>
          <p:cNvPr id="142" name="Google Shape;142;p3"/>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Alcance Asignado</a:t>
            </a:r>
            <a:endParaRPr b="0" i="0" sz="1400" u="none" cap="none" strike="noStrike">
              <a:solidFill>
                <a:srgbClr val="000000"/>
              </a:solidFill>
              <a:latin typeface="Arial"/>
              <a:ea typeface="Arial"/>
              <a:cs typeface="Arial"/>
              <a:sym typeface="Arial"/>
            </a:endParaRPr>
          </a:p>
        </p:txBody>
      </p:sp>
      <p:sp>
        <p:nvSpPr>
          <p:cNvPr id="143" name="Google Shape;143;p3"/>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 name="Google Shape;144;p3"/>
          <p:cNvSpPr txBox="1"/>
          <p:nvPr/>
        </p:nvSpPr>
        <p:spPr>
          <a:xfrm>
            <a:off x="771525" y="3505200"/>
            <a:ext cx="3079800" cy="1731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En qué consiste:</a:t>
            </a:r>
            <a:endParaRPr b="0" i="0" sz="1400" u="none" cap="none" strike="noStrike">
              <a:solidFill>
                <a:srgbClr val="000000"/>
              </a:solidFill>
              <a:latin typeface="Arial"/>
              <a:ea typeface="Arial"/>
              <a:cs typeface="Arial"/>
              <a:sym typeface="Arial"/>
            </a:endParaRPr>
          </a:p>
        </p:txBody>
      </p:sp>
      <p:sp>
        <p:nvSpPr>
          <p:cNvPr id="145" name="Google Shape;145;p3"/>
          <p:cNvSpPr txBox="1"/>
          <p:nvPr/>
        </p:nvSpPr>
        <p:spPr>
          <a:xfrm>
            <a:off x="4553738" y="3505200"/>
            <a:ext cx="3079800" cy="17310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Aseguramiento de estándares compartidos:</a:t>
            </a:r>
            <a:endParaRPr b="0" i="0" sz="1400" u="none" cap="none" strike="noStrike">
              <a:solidFill>
                <a:srgbClr val="000000"/>
              </a:solidFill>
              <a:latin typeface="Arial"/>
              <a:ea typeface="Arial"/>
              <a:cs typeface="Arial"/>
              <a:sym typeface="Arial"/>
            </a:endParaRPr>
          </a:p>
        </p:txBody>
      </p:sp>
      <p:sp>
        <p:nvSpPr>
          <p:cNvPr id="146" name="Google Shape;146;p3"/>
          <p:cNvSpPr txBox="1"/>
          <p:nvPr/>
        </p:nvSpPr>
        <p:spPr>
          <a:xfrm>
            <a:off x="8340625" y="3505200"/>
            <a:ext cx="3079849" cy="21431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Evolución de la plataforma con:</a:t>
            </a:r>
            <a:endParaRPr b="0" i="0" sz="1400" u="none" cap="none" strike="noStrike">
              <a:solidFill>
                <a:srgbClr val="000000"/>
              </a:solidFill>
              <a:latin typeface="Arial"/>
              <a:ea typeface="Arial"/>
              <a:cs typeface="Arial"/>
              <a:sym typeface="Arial"/>
            </a:endParaRPr>
          </a:p>
        </p:txBody>
      </p:sp>
      <p:pic>
        <p:nvPicPr>
          <p:cNvPr descr="image.png" id="147" name="Google Shape;147;p3"/>
          <p:cNvPicPr preferRelativeResize="0"/>
          <p:nvPr/>
        </p:nvPicPr>
        <p:blipFill rotWithShape="1">
          <a:blip r:embed="rId6">
            <a:alphaModFix/>
          </a:blip>
          <a:srcRect b="0" l="0" r="0" t="0"/>
          <a:stretch/>
        </p:blipFill>
        <p:spPr>
          <a:xfrm>
            <a:off x="771525" y="2800350"/>
            <a:ext cx="257175" cy="228600"/>
          </a:xfrm>
          <a:prstGeom prst="rect">
            <a:avLst/>
          </a:prstGeom>
          <a:noFill/>
          <a:ln>
            <a:noFill/>
          </a:ln>
        </p:spPr>
      </p:pic>
      <p:sp>
        <p:nvSpPr>
          <p:cNvPr id="148" name="Google Shape;148;p3"/>
          <p:cNvSpPr txBox="1"/>
          <p:nvPr/>
        </p:nvSpPr>
        <p:spPr>
          <a:xfrm>
            <a:off x="1143000" y="2771775"/>
            <a:ext cx="18150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F172A"/>
                </a:solidFill>
                <a:latin typeface="Poppins"/>
                <a:ea typeface="Poppins"/>
                <a:cs typeface="Poppins"/>
                <a:sym typeface="Poppins"/>
              </a:rPr>
              <a:t>Core del proyecto</a:t>
            </a:r>
            <a:endParaRPr b="0" i="0" sz="1400" u="none" cap="none" strike="noStrike">
              <a:solidFill>
                <a:srgbClr val="000000"/>
              </a:solidFill>
              <a:latin typeface="Arial"/>
              <a:ea typeface="Arial"/>
              <a:cs typeface="Arial"/>
              <a:sym typeface="Arial"/>
            </a:endParaRPr>
          </a:p>
        </p:txBody>
      </p:sp>
      <p:sp>
        <p:nvSpPr>
          <p:cNvPr id="149" name="Google Shape;149;p3"/>
          <p:cNvSpPr txBox="1"/>
          <p:nvPr/>
        </p:nvSpPr>
        <p:spPr>
          <a:xfrm>
            <a:off x="866775" y="3793331"/>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50" name="Google Shape;150;p3"/>
          <p:cNvSpPr txBox="1"/>
          <p:nvPr/>
        </p:nvSpPr>
        <p:spPr>
          <a:xfrm>
            <a:off x="962025" y="3795712"/>
            <a:ext cx="2889200"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Gestión de Aplicaciones y Proyectos</a:t>
            </a:r>
            <a:endParaRPr b="0" i="0" sz="1400" u="none" cap="none" strike="noStrike">
              <a:solidFill>
                <a:srgbClr val="000000"/>
              </a:solidFill>
              <a:latin typeface="Arial"/>
              <a:ea typeface="Arial"/>
              <a:cs typeface="Arial"/>
              <a:sym typeface="Arial"/>
            </a:endParaRPr>
          </a:p>
        </p:txBody>
      </p:sp>
      <p:sp>
        <p:nvSpPr>
          <p:cNvPr id="151" name="Google Shape;151;p3"/>
          <p:cNvSpPr txBox="1"/>
          <p:nvPr/>
        </p:nvSpPr>
        <p:spPr>
          <a:xfrm>
            <a:off x="866775" y="4036218"/>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52" name="Google Shape;152;p3"/>
          <p:cNvSpPr txBox="1"/>
          <p:nvPr/>
        </p:nvSpPr>
        <p:spPr>
          <a:xfrm>
            <a:off x="962025" y="4038600"/>
            <a:ext cx="2889200"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Gestión de Épicas y Ordenamiento</a:t>
            </a:r>
            <a:endParaRPr b="0" i="0" sz="1400" u="none" cap="none" strike="noStrike">
              <a:solidFill>
                <a:srgbClr val="000000"/>
              </a:solidFill>
              <a:latin typeface="Arial"/>
              <a:ea typeface="Arial"/>
              <a:cs typeface="Arial"/>
              <a:sym typeface="Arial"/>
            </a:endParaRPr>
          </a:p>
        </p:txBody>
      </p:sp>
      <p:sp>
        <p:nvSpPr>
          <p:cNvPr id="153" name="Google Shape;153;p3"/>
          <p:cNvSpPr txBox="1"/>
          <p:nvPr/>
        </p:nvSpPr>
        <p:spPr>
          <a:xfrm>
            <a:off x="866775" y="4279106"/>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54" name="Google Shape;154;p3"/>
          <p:cNvSpPr txBox="1"/>
          <p:nvPr/>
        </p:nvSpPr>
        <p:spPr>
          <a:xfrm>
            <a:off x="962025" y="4281487"/>
            <a:ext cx="2889200"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Gestión de Tickets y Subtareas</a:t>
            </a:r>
            <a:endParaRPr b="0" i="0" sz="1400" u="none" cap="none" strike="noStrike">
              <a:solidFill>
                <a:srgbClr val="000000"/>
              </a:solidFill>
              <a:latin typeface="Arial"/>
              <a:ea typeface="Arial"/>
              <a:cs typeface="Arial"/>
              <a:sym typeface="Arial"/>
            </a:endParaRPr>
          </a:p>
        </p:txBody>
      </p:sp>
      <p:sp>
        <p:nvSpPr>
          <p:cNvPr id="155" name="Google Shape;155;p3"/>
          <p:cNvSpPr txBox="1"/>
          <p:nvPr/>
        </p:nvSpPr>
        <p:spPr>
          <a:xfrm>
            <a:off x="866775" y="4521993"/>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56" name="Google Shape;156;p3"/>
          <p:cNvSpPr txBox="1"/>
          <p:nvPr/>
        </p:nvSpPr>
        <p:spPr>
          <a:xfrm>
            <a:off x="962025" y="4524375"/>
            <a:ext cx="2889200"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Gestión Centralizada de Documentos</a:t>
            </a:r>
            <a:endParaRPr b="0" i="0" sz="1400" u="none" cap="none" strike="noStrike">
              <a:solidFill>
                <a:srgbClr val="000000"/>
              </a:solidFill>
              <a:latin typeface="Arial"/>
              <a:ea typeface="Arial"/>
              <a:cs typeface="Arial"/>
              <a:sym typeface="Arial"/>
            </a:endParaRPr>
          </a:p>
        </p:txBody>
      </p:sp>
      <p:pic>
        <p:nvPicPr>
          <p:cNvPr descr="image.png" id="157" name="Google Shape;157;p3"/>
          <p:cNvPicPr preferRelativeResize="0"/>
          <p:nvPr/>
        </p:nvPicPr>
        <p:blipFill rotWithShape="1">
          <a:blip r:embed="rId7">
            <a:alphaModFix/>
          </a:blip>
          <a:srcRect b="0" l="0" r="0" t="0"/>
          <a:stretch/>
        </p:blipFill>
        <p:spPr>
          <a:xfrm>
            <a:off x="4556063" y="2800350"/>
            <a:ext cx="228600" cy="228600"/>
          </a:xfrm>
          <a:prstGeom prst="rect">
            <a:avLst/>
          </a:prstGeom>
          <a:noFill/>
          <a:ln>
            <a:noFill/>
          </a:ln>
        </p:spPr>
      </p:pic>
      <p:sp>
        <p:nvSpPr>
          <p:cNvPr id="158" name="Google Shape;158;p3"/>
          <p:cNvSpPr txBox="1"/>
          <p:nvPr/>
        </p:nvSpPr>
        <p:spPr>
          <a:xfrm>
            <a:off x="4898975" y="2771775"/>
            <a:ext cx="2690336" cy="2857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F172A"/>
                </a:solidFill>
                <a:latin typeface="Poppins"/>
                <a:ea typeface="Poppins"/>
                <a:cs typeface="Poppins"/>
                <a:sym typeface="Poppins"/>
              </a:rPr>
              <a:t>Estándares Transversales</a:t>
            </a:r>
            <a:endParaRPr b="0" i="0" sz="1400" u="none" cap="none" strike="noStrike">
              <a:solidFill>
                <a:srgbClr val="000000"/>
              </a:solidFill>
              <a:latin typeface="Arial"/>
              <a:ea typeface="Arial"/>
              <a:cs typeface="Arial"/>
              <a:sym typeface="Arial"/>
            </a:endParaRPr>
          </a:p>
        </p:txBody>
      </p:sp>
      <p:sp>
        <p:nvSpPr>
          <p:cNvPr id="159" name="Google Shape;159;p3"/>
          <p:cNvSpPr txBox="1"/>
          <p:nvPr/>
        </p:nvSpPr>
        <p:spPr>
          <a:xfrm>
            <a:off x="4641025" y="3793331"/>
            <a:ext cx="95400" cy="19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60" name="Google Shape;160;p3"/>
          <p:cNvSpPr txBox="1"/>
          <p:nvPr/>
        </p:nvSpPr>
        <p:spPr>
          <a:xfrm>
            <a:off x="4691950" y="3793325"/>
            <a:ext cx="3041400" cy="421800"/>
          </a:xfrm>
          <a:prstGeom prst="rect">
            <a:avLst/>
          </a:prstGeom>
          <a:noFill/>
          <a:ln>
            <a:noFill/>
          </a:ln>
        </p:spPr>
        <p:txBody>
          <a:bodyPr anchorCtr="0" anchor="t" bIns="0" lIns="95250" spcFirstLastPara="1" rIns="0" wrap="square" tIns="0">
            <a:spAutoFit/>
          </a:bodyPr>
          <a:lstStyle/>
          <a:p>
            <a:pPr indent="0" lvl="0" marL="0" marR="0" rtl="0" algn="l">
              <a:lnSpc>
                <a:spcPct val="115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TRV-04: Internacionalización (i18n) en tiempo real</a:t>
            </a:r>
            <a:endParaRPr b="0" i="0" sz="1400" u="none" cap="none" strike="noStrike">
              <a:solidFill>
                <a:srgbClr val="000000"/>
              </a:solidFill>
              <a:latin typeface="Arial"/>
              <a:ea typeface="Arial"/>
              <a:cs typeface="Arial"/>
              <a:sym typeface="Arial"/>
            </a:endParaRPr>
          </a:p>
        </p:txBody>
      </p:sp>
      <p:sp>
        <p:nvSpPr>
          <p:cNvPr id="161" name="Google Shape;161;p3"/>
          <p:cNvSpPr txBox="1"/>
          <p:nvPr/>
        </p:nvSpPr>
        <p:spPr>
          <a:xfrm>
            <a:off x="4641025" y="4279106"/>
            <a:ext cx="95400" cy="19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62" name="Google Shape;162;p3"/>
          <p:cNvSpPr txBox="1"/>
          <p:nvPr/>
        </p:nvSpPr>
        <p:spPr>
          <a:xfrm>
            <a:off x="4691950" y="4279101"/>
            <a:ext cx="3041400" cy="196200"/>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TRV-05: Temas Claro / Oscuro dinámicos</a:t>
            </a:r>
            <a:endParaRPr b="0" i="0" sz="1400" u="none" cap="none" strike="noStrike">
              <a:solidFill>
                <a:srgbClr val="000000"/>
              </a:solidFill>
              <a:latin typeface="Arial"/>
              <a:ea typeface="Arial"/>
              <a:cs typeface="Arial"/>
              <a:sym typeface="Arial"/>
            </a:endParaRPr>
          </a:p>
        </p:txBody>
      </p:sp>
      <p:sp>
        <p:nvSpPr>
          <p:cNvPr id="163" name="Google Shape;163;p3"/>
          <p:cNvSpPr txBox="1"/>
          <p:nvPr/>
        </p:nvSpPr>
        <p:spPr>
          <a:xfrm>
            <a:off x="4641025" y="4521993"/>
            <a:ext cx="95400" cy="19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64" name="Google Shape;164;p3"/>
          <p:cNvSpPr txBox="1"/>
          <p:nvPr/>
        </p:nvSpPr>
        <p:spPr>
          <a:xfrm>
            <a:off x="4691950" y="4521989"/>
            <a:ext cx="3041400" cy="196200"/>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Accesibilidad de contraste (WCAG AA)</a:t>
            </a:r>
            <a:endParaRPr b="0" i="0" sz="1400" u="none" cap="none" strike="noStrike">
              <a:solidFill>
                <a:srgbClr val="000000"/>
              </a:solidFill>
              <a:latin typeface="Arial"/>
              <a:ea typeface="Arial"/>
              <a:cs typeface="Arial"/>
              <a:sym typeface="Arial"/>
            </a:endParaRPr>
          </a:p>
        </p:txBody>
      </p:sp>
      <p:sp>
        <p:nvSpPr>
          <p:cNvPr id="165" name="Google Shape;165;p3"/>
          <p:cNvSpPr txBox="1"/>
          <p:nvPr/>
        </p:nvSpPr>
        <p:spPr>
          <a:xfrm>
            <a:off x="4641025" y="4764881"/>
            <a:ext cx="95400" cy="19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66" name="Google Shape;166;p3"/>
          <p:cNvSpPr txBox="1"/>
          <p:nvPr/>
        </p:nvSpPr>
        <p:spPr>
          <a:xfrm>
            <a:off x="4691950" y="4764877"/>
            <a:ext cx="3041400" cy="196200"/>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Persistencia de preferencias por usuario</a:t>
            </a:r>
            <a:endParaRPr b="0" i="0" sz="1400" u="none" cap="none" strike="noStrike">
              <a:solidFill>
                <a:srgbClr val="000000"/>
              </a:solidFill>
              <a:latin typeface="Arial"/>
              <a:ea typeface="Arial"/>
              <a:cs typeface="Arial"/>
              <a:sym typeface="Arial"/>
            </a:endParaRPr>
          </a:p>
        </p:txBody>
      </p:sp>
      <p:pic>
        <p:nvPicPr>
          <p:cNvPr descr="image.png" id="167" name="Google Shape;167;p3"/>
          <p:cNvPicPr preferRelativeResize="0"/>
          <p:nvPr/>
        </p:nvPicPr>
        <p:blipFill rotWithShape="1">
          <a:blip r:embed="rId8">
            <a:alphaModFix/>
          </a:blip>
          <a:srcRect b="0" l="0" r="0" t="0"/>
          <a:stretch/>
        </p:blipFill>
        <p:spPr>
          <a:xfrm>
            <a:off x="8340625" y="2800350"/>
            <a:ext cx="257175" cy="228600"/>
          </a:xfrm>
          <a:prstGeom prst="rect">
            <a:avLst/>
          </a:prstGeom>
          <a:noFill/>
          <a:ln>
            <a:noFill/>
          </a:ln>
        </p:spPr>
      </p:pic>
      <p:sp>
        <p:nvSpPr>
          <p:cNvPr id="168" name="Google Shape;168;p3"/>
          <p:cNvSpPr txBox="1"/>
          <p:nvPr/>
        </p:nvSpPr>
        <p:spPr>
          <a:xfrm>
            <a:off x="8712100" y="2771775"/>
            <a:ext cx="2550318" cy="2857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F172A"/>
                </a:solidFill>
                <a:latin typeface="Poppins"/>
                <a:ea typeface="Poppins"/>
                <a:cs typeface="Poppins"/>
                <a:sym typeface="Poppins"/>
              </a:rPr>
              <a:t>Nuevas Funcionalidades</a:t>
            </a:r>
            <a:endParaRPr b="0" i="0" sz="1400" u="none" cap="none" strike="noStrike">
              <a:solidFill>
                <a:srgbClr val="000000"/>
              </a:solidFill>
              <a:latin typeface="Arial"/>
              <a:ea typeface="Arial"/>
              <a:cs typeface="Arial"/>
              <a:sym typeface="Arial"/>
            </a:endParaRPr>
          </a:p>
        </p:txBody>
      </p:sp>
      <p:sp>
        <p:nvSpPr>
          <p:cNvPr id="169" name="Google Shape;169;p3"/>
          <p:cNvSpPr txBox="1"/>
          <p:nvPr/>
        </p:nvSpPr>
        <p:spPr>
          <a:xfrm>
            <a:off x="8435875" y="3793331"/>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70" name="Google Shape;170;p3"/>
          <p:cNvSpPr txBox="1"/>
          <p:nvPr/>
        </p:nvSpPr>
        <p:spPr>
          <a:xfrm>
            <a:off x="8531125" y="3795712"/>
            <a:ext cx="2889349"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Comentarios con Menciones (@)</a:t>
            </a:r>
            <a:endParaRPr b="0" i="0" sz="1400" u="none" cap="none" strike="noStrike">
              <a:solidFill>
                <a:srgbClr val="000000"/>
              </a:solidFill>
              <a:latin typeface="Arial"/>
              <a:ea typeface="Arial"/>
              <a:cs typeface="Arial"/>
              <a:sym typeface="Arial"/>
            </a:endParaRPr>
          </a:p>
        </p:txBody>
      </p:sp>
      <p:sp>
        <p:nvSpPr>
          <p:cNvPr id="171" name="Google Shape;171;p3"/>
          <p:cNvSpPr txBox="1"/>
          <p:nvPr/>
        </p:nvSpPr>
        <p:spPr>
          <a:xfrm>
            <a:off x="8435875" y="4036218"/>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72" name="Google Shape;172;p3"/>
          <p:cNvSpPr txBox="1"/>
          <p:nvPr/>
        </p:nvSpPr>
        <p:spPr>
          <a:xfrm>
            <a:off x="8531125" y="4038600"/>
            <a:ext cx="2889349"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Tablero Kanban Drag &amp; Drop</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8435875" y="4279106"/>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74" name="Google Shape;174;p3"/>
          <p:cNvSpPr txBox="1"/>
          <p:nvPr/>
        </p:nvSpPr>
        <p:spPr>
          <a:xfrm>
            <a:off x="8531125" y="4281487"/>
            <a:ext cx="2889349"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Gestión de Sprints y Velocidad</a:t>
            </a:r>
            <a:endParaRPr b="0" i="0" sz="1400" u="none" cap="none" strike="noStrike">
              <a:solidFill>
                <a:srgbClr val="000000"/>
              </a:solidFill>
              <a:latin typeface="Arial"/>
              <a:ea typeface="Arial"/>
              <a:cs typeface="Arial"/>
              <a:sym typeface="Arial"/>
            </a:endParaRPr>
          </a:p>
        </p:txBody>
      </p:sp>
      <p:sp>
        <p:nvSpPr>
          <p:cNvPr id="175" name="Google Shape;175;p3"/>
          <p:cNvSpPr txBox="1"/>
          <p:nvPr/>
        </p:nvSpPr>
        <p:spPr>
          <a:xfrm>
            <a:off x="8435875" y="4521993"/>
            <a:ext cx="95250" cy="24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76" name="Google Shape;176;p3"/>
          <p:cNvSpPr txBox="1"/>
          <p:nvPr/>
        </p:nvSpPr>
        <p:spPr>
          <a:xfrm>
            <a:off x="8531125" y="4524375"/>
            <a:ext cx="2889349" cy="242887"/>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Gestión de SLA y Escalamiento</a:t>
            </a:r>
            <a:endParaRPr b="0" i="0" sz="1400" u="none" cap="none" strike="noStrike">
              <a:solidFill>
                <a:srgbClr val="000000"/>
              </a:solidFill>
              <a:latin typeface="Arial"/>
              <a:ea typeface="Arial"/>
              <a:cs typeface="Arial"/>
              <a:sym typeface="Arial"/>
            </a:endParaRPr>
          </a:p>
        </p:txBody>
      </p:sp>
      <p:sp>
        <p:nvSpPr>
          <p:cNvPr id="177" name="Google Shape;177;p3"/>
          <p:cNvSpPr txBox="1"/>
          <p:nvPr/>
        </p:nvSpPr>
        <p:spPr>
          <a:xfrm>
            <a:off x="771525" y="3096888"/>
            <a:ext cx="1028700" cy="215400"/>
          </a:xfrm>
          <a:prstGeom prst="rect">
            <a:avLst/>
          </a:prstGeom>
          <a:solidFill>
            <a:srgbClr val="C9DAF8"/>
          </a:solid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1155CC"/>
                </a:solidFill>
                <a:latin typeface="Lato"/>
                <a:ea typeface="Lato"/>
                <a:cs typeface="Lato"/>
                <a:sym typeface="Lato"/>
              </a:rPr>
              <a:t>NÚCLEO EXISTENTE</a:t>
            </a:r>
            <a:endParaRPr b="1" i="0" sz="800" u="none" cap="none" strike="noStrike">
              <a:solidFill>
                <a:srgbClr val="1155CC"/>
              </a:solidFill>
              <a:latin typeface="Lato"/>
              <a:ea typeface="Lato"/>
              <a:cs typeface="Lato"/>
              <a:sym typeface="Lato"/>
            </a:endParaRPr>
          </a:p>
        </p:txBody>
      </p:sp>
      <p:sp>
        <p:nvSpPr>
          <p:cNvPr id="178" name="Google Shape;178;p3"/>
          <p:cNvSpPr txBox="1"/>
          <p:nvPr/>
        </p:nvSpPr>
        <p:spPr>
          <a:xfrm>
            <a:off x="4556075" y="3096900"/>
            <a:ext cx="1028700" cy="215400"/>
          </a:xfrm>
          <a:prstGeom prst="rect">
            <a:avLst/>
          </a:prstGeom>
          <a:solidFill>
            <a:srgbClr val="FFF2CC"/>
          </a:solid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783F04"/>
                </a:solidFill>
                <a:latin typeface="Lato"/>
                <a:ea typeface="Lato"/>
                <a:cs typeface="Lato"/>
                <a:sym typeface="Lato"/>
              </a:rPr>
              <a:t>BRECHAS UI/UX</a:t>
            </a:r>
            <a:endParaRPr b="1" i="0" sz="800" u="none" cap="none" strike="noStrike">
              <a:solidFill>
                <a:srgbClr val="783F04"/>
              </a:solidFill>
              <a:latin typeface="Lato"/>
              <a:ea typeface="Lato"/>
              <a:cs typeface="Lato"/>
              <a:sym typeface="Lato"/>
            </a:endParaRPr>
          </a:p>
        </p:txBody>
      </p:sp>
      <p:sp>
        <p:nvSpPr>
          <p:cNvPr id="179" name="Google Shape;179;p3"/>
          <p:cNvSpPr txBox="1"/>
          <p:nvPr/>
        </p:nvSpPr>
        <p:spPr>
          <a:xfrm>
            <a:off x="8340625" y="3173663"/>
            <a:ext cx="1384500" cy="215400"/>
          </a:xfrm>
          <a:prstGeom prst="rect">
            <a:avLst/>
          </a:prstGeom>
          <a:solidFill>
            <a:srgbClr val="D9EAD3"/>
          </a:solid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14532D"/>
                </a:solidFill>
                <a:latin typeface="Lato"/>
                <a:ea typeface="Lato"/>
                <a:cs typeface="Lato"/>
                <a:sym typeface="Lato"/>
              </a:rPr>
              <a:t>MÓDULOS PROPUESTOS</a:t>
            </a:r>
            <a:endParaRPr b="1" i="0" sz="800" u="none" cap="none" strike="noStrike">
              <a:solidFill>
                <a:srgbClr val="14532D"/>
              </a:solidFill>
              <a:latin typeface="Lato"/>
              <a:ea typeface="Lato"/>
              <a:cs typeface="Lato"/>
              <a:sym typeface="Lato"/>
            </a:endParaRPr>
          </a:p>
        </p:txBody>
      </p:sp>
      <p:sp>
        <p:nvSpPr>
          <p:cNvPr id="180" name="Google Shape;180;p3"/>
          <p:cNvSpPr txBox="1"/>
          <p:nvPr/>
        </p:nvSpPr>
        <p:spPr>
          <a:xfrm>
            <a:off x="8435875" y="4764868"/>
            <a:ext cx="95400" cy="19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p:txBody>
      </p:sp>
      <p:sp>
        <p:nvSpPr>
          <p:cNvPr id="181" name="Google Shape;181;p3"/>
          <p:cNvSpPr txBox="1"/>
          <p:nvPr/>
        </p:nvSpPr>
        <p:spPr>
          <a:xfrm>
            <a:off x="8531125" y="4767250"/>
            <a:ext cx="2889300" cy="196200"/>
          </a:xfrm>
          <a:prstGeom prst="rect">
            <a:avLst/>
          </a:prstGeom>
          <a:noFill/>
          <a:ln>
            <a:noFill/>
          </a:ln>
        </p:spPr>
        <p:txBody>
          <a:bodyPr anchorCtr="0" anchor="t" bIns="0" lIns="95250" spcFirstLastPara="1" rIns="0" wrap="square" tIns="0">
            <a:spAutoFit/>
          </a:bodyPr>
          <a:lstStyle/>
          <a:p>
            <a:pPr indent="0" lvl="0" marL="0" marR="0" rtl="0" algn="l">
              <a:lnSpc>
                <a:spcPct val="149960"/>
              </a:lnSpc>
              <a:spcBef>
                <a:spcPts val="0"/>
              </a:spcBef>
              <a:spcAft>
                <a:spcPts val="0"/>
              </a:spcAft>
              <a:buClr>
                <a:srgbClr val="000000"/>
              </a:buClr>
              <a:buSzPts val="1275"/>
              <a:buFont typeface="Arial"/>
              <a:buNone/>
            </a:pPr>
            <a:r>
              <a:rPr b="0" i="0" lang="en-US" sz="1275" u="none" cap="none" strike="noStrike">
                <a:solidFill>
                  <a:srgbClr val="334155"/>
                </a:solidFill>
                <a:latin typeface="Lato"/>
                <a:ea typeface="Lato"/>
                <a:cs typeface="Lato"/>
                <a:sym typeface="Lato"/>
              </a:rPr>
              <a:t>entre otros…</a:t>
            </a:r>
            <a:endParaRPr b="0" i="0" sz="1400" u="none" cap="none" strike="noStrike">
              <a:solidFill>
                <a:srgbClr val="000000"/>
              </a:solidFill>
              <a:latin typeface="Arial"/>
              <a:ea typeface="Arial"/>
              <a:cs typeface="Arial"/>
              <a:sym typeface="Arial"/>
            </a:endParaRPr>
          </a:p>
        </p:txBody>
      </p:sp>
      <p:sp>
        <p:nvSpPr>
          <p:cNvPr id="182" name="Google Shape;182;p3"/>
          <p:cNvSpPr txBox="1"/>
          <p:nvPr/>
        </p:nvSpPr>
        <p:spPr>
          <a:xfrm>
            <a:off x="533400" y="1215150"/>
            <a:ext cx="6803100" cy="215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050"/>
              <a:buFont typeface="Arial"/>
              <a:buNone/>
            </a:pPr>
            <a:r>
              <a:rPr i="0" lang="en-US" u="none" cap="none" strike="noStrike">
                <a:solidFill>
                  <a:srgbClr val="334155"/>
                </a:solidFill>
                <a:latin typeface="Lato"/>
                <a:ea typeface="Lato"/>
                <a:cs typeface="Lato"/>
                <a:sym typeface="Lato"/>
              </a:rPr>
              <a:t>Basados en requerimientos que veremos a continuación</a:t>
            </a:r>
            <a:endParaRPr i="0" u="none" cap="none" strike="noStrike">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pic>
        <p:nvPicPr>
          <p:cNvPr descr="image.png" id="187" name="Google Shape;187;p4"/>
          <p:cNvPicPr preferRelativeResize="0"/>
          <p:nvPr/>
        </p:nvPicPr>
        <p:blipFill rotWithShape="1">
          <a:blip r:embed="rId3">
            <a:alphaModFix/>
          </a:blip>
          <a:srcRect b="0" l="0" r="0" t="0"/>
          <a:stretch/>
        </p:blipFill>
        <p:spPr>
          <a:xfrm>
            <a:off x="533400" y="2038350"/>
            <a:ext cx="3548750" cy="2144375"/>
          </a:xfrm>
          <a:prstGeom prst="rect">
            <a:avLst/>
          </a:prstGeom>
          <a:noFill/>
          <a:ln>
            <a:noFill/>
          </a:ln>
        </p:spPr>
      </p:pic>
      <p:pic>
        <p:nvPicPr>
          <p:cNvPr descr="image.png" id="188" name="Google Shape;188;p4"/>
          <p:cNvPicPr preferRelativeResize="0"/>
          <p:nvPr/>
        </p:nvPicPr>
        <p:blipFill rotWithShape="1">
          <a:blip r:embed="rId4">
            <a:alphaModFix/>
          </a:blip>
          <a:srcRect b="0" l="0" r="0" t="0"/>
          <a:stretch/>
        </p:blipFill>
        <p:spPr>
          <a:xfrm>
            <a:off x="533275" y="4306950"/>
            <a:ext cx="3548750" cy="2174100"/>
          </a:xfrm>
          <a:prstGeom prst="rect">
            <a:avLst/>
          </a:prstGeom>
          <a:noFill/>
          <a:ln>
            <a:noFill/>
          </a:ln>
        </p:spPr>
      </p:pic>
      <p:pic>
        <p:nvPicPr>
          <p:cNvPr descr="image.png" id="189" name="Google Shape;189;p4"/>
          <p:cNvPicPr preferRelativeResize="0"/>
          <p:nvPr/>
        </p:nvPicPr>
        <p:blipFill rotWithShape="1">
          <a:blip r:embed="rId5">
            <a:alphaModFix/>
          </a:blip>
          <a:srcRect b="0" l="0" r="0" t="0"/>
          <a:stretch/>
        </p:blipFill>
        <p:spPr>
          <a:xfrm>
            <a:off x="4369000" y="2286700"/>
            <a:ext cx="7336926" cy="3965750"/>
          </a:xfrm>
          <a:prstGeom prst="rect">
            <a:avLst/>
          </a:prstGeom>
          <a:noFill/>
          <a:ln>
            <a:noFill/>
          </a:ln>
        </p:spPr>
      </p:pic>
      <p:sp>
        <p:nvSpPr>
          <p:cNvPr id="190" name="Google Shape;190;p4"/>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Estándares Transversales</a:t>
            </a:r>
            <a:endParaRPr b="0" i="0" sz="1400" u="none" cap="none" strike="noStrike">
              <a:solidFill>
                <a:srgbClr val="000000"/>
              </a:solidFill>
              <a:latin typeface="Arial"/>
              <a:ea typeface="Arial"/>
              <a:cs typeface="Arial"/>
              <a:sym typeface="Arial"/>
            </a:endParaRPr>
          </a:p>
        </p:txBody>
      </p:sp>
      <p:sp>
        <p:nvSpPr>
          <p:cNvPr id="191" name="Google Shape;191;p4"/>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4"/>
          <p:cNvSpPr txBox="1"/>
          <p:nvPr/>
        </p:nvSpPr>
        <p:spPr>
          <a:xfrm>
            <a:off x="689595" y="2971800"/>
            <a:ext cx="3236100" cy="11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050"/>
              <a:buFont typeface="Arial"/>
              <a:buNone/>
            </a:pPr>
            <a:r>
              <a:rPr b="0" i="0" lang="en-US" sz="1050" u="none" cap="none" strike="noStrike">
                <a:solidFill>
                  <a:srgbClr val="334155"/>
                </a:solidFill>
                <a:latin typeface="Lato"/>
                <a:ea typeface="Lato"/>
                <a:cs typeface="Lato"/>
                <a:sym typeface="Lato"/>
              </a:rPr>
              <a:t>La interfaz actual presenta cadenas hardcodeadas, conteniendo texto directamente en el código. Se modificará implementando un diccionario centralizado JSON con cambio de idioma sin necesidad de recargar la sesión para ver los cambios.</a:t>
            </a:r>
            <a:endParaRPr b="0" i="0" sz="1400" u="none" cap="none" strike="noStrike">
              <a:solidFill>
                <a:srgbClr val="000000"/>
              </a:solidFill>
              <a:latin typeface="Arial"/>
              <a:ea typeface="Arial"/>
              <a:cs typeface="Arial"/>
              <a:sym typeface="Arial"/>
            </a:endParaRPr>
          </a:p>
        </p:txBody>
      </p:sp>
      <p:sp>
        <p:nvSpPr>
          <p:cNvPr id="193" name="Google Shape;193;p4"/>
          <p:cNvSpPr txBox="1"/>
          <p:nvPr/>
        </p:nvSpPr>
        <p:spPr>
          <a:xfrm>
            <a:off x="689595" y="5348375"/>
            <a:ext cx="3236100" cy="888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050"/>
              <a:buFont typeface="Arial"/>
              <a:buNone/>
            </a:pPr>
            <a:r>
              <a:rPr b="0" i="0" lang="en-US" sz="1050" u="none" cap="none" strike="noStrike">
                <a:solidFill>
                  <a:srgbClr val="334155"/>
                </a:solidFill>
                <a:latin typeface="Lato"/>
                <a:ea typeface="Lato"/>
                <a:cs typeface="Lato"/>
                <a:sym typeface="Lato"/>
              </a:rPr>
              <a:t>Se requiere que la plataforma web ofrezca soporte nativo de temas claro y oscuro mediantes CSS, con transición fluida y contraste respetando estándares de accesibildad.</a:t>
            </a:r>
            <a:endParaRPr b="0" i="0" sz="1400" u="none" cap="none" strike="noStrike">
              <a:solidFill>
                <a:srgbClr val="000000"/>
              </a:solidFill>
              <a:latin typeface="Arial"/>
              <a:ea typeface="Arial"/>
              <a:cs typeface="Arial"/>
              <a:sym typeface="Arial"/>
            </a:endParaRPr>
          </a:p>
        </p:txBody>
      </p:sp>
      <p:sp>
        <p:nvSpPr>
          <p:cNvPr id="194" name="Google Shape;194;p4"/>
          <p:cNvSpPr txBox="1"/>
          <p:nvPr/>
        </p:nvSpPr>
        <p:spPr>
          <a:xfrm>
            <a:off x="7580250" y="2347150"/>
            <a:ext cx="914400" cy="13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900"/>
              <a:buFont typeface="Arial"/>
              <a:buNone/>
            </a:pPr>
            <a:r>
              <a:rPr b="1" i="0" lang="en-US" sz="900" u="none" cap="none" strike="noStrike">
                <a:solidFill>
                  <a:srgbClr val="64748B"/>
                </a:solidFill>
                <a:latin typeface="Lato"/>
                <a:ea typeface="Lato"/>
                <a:cs typeface="Lato"/>
                <a:sym typeface="Lato"/>
              </a:rPr>
              <a:t>Evidencia Actual</a:t>
            </a:r>
            <a:endParaRPr b="0" i="0" sz="1400" u="none" cap="none" strike="noStrike">
              <a:solidFill>
                <a:srgbClr val="000000"/>
              </a:solidFill>
              <a:latin typeface="Arial"/>
              <a:ea typeface="Arial"/>
              <a:cs typeface="Arial"/>
              <a:sym typeface="Arial"/>
            </a:endParaRPr>
          </a:p>
        </p:txBody>
      </p:sp>
      <p:pic>
        <p:nvPicPr>
          <p:cNvPr descr="image.png" id="195" name="Google Shape;195;p4"/>
          <p:cNvPicPr preferRelativeResize="0"/>
          <p:nvPr/>
        </p:nvPicPr>
        <p:blipFill rotWithShape="1">
          <a:blip r:embed="rId6">
            <a:alphaModFix/>
          </a:blip>
          <a:srcRect b="0" l="0" r="0" t="0"/>
          <a:stretch/>
        </p:blipFill>
        <p:spPr>
          <a:xfrm>
            <a:off x="646375" y="2286700"/>
            <a:ext cx="285750" cy="228600"/>
          </a:xfrm>
          <a:prstGeom prst="rect">
            <a:avLst/>
          </a:prstGeom>
          <a:noFill/>
          <a:ln>
            <a:noFill/>
          </a:ln>
        </p:spPr>
      </p:pic>
      <p:sp>
        <p:nvSpPr>
          <p:cNvPr id="196" name="Google Shape;196;p4"/>
          <p:cNvSpPr txBox="1"/>
          <p:nvPr/>
        </p:nvSpPr>
        <p:spPr>
          <a:xfrm>
            <a:off x="1072050" y="2179200"/>
            <a:ext cx="28005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F172A"/>
                </a:solidFill>
                <a:latin typeface="Poppins"/>
                <a:ea typeface="Poppins"/>
                <a:cs typeface="Poppins"/>
                <a:sym typeface="Poppins"/>
              </a:rPr>
              <a:t>TRV-04 · Internacionalización (i18n)</a:t>
            </a:r>
            <a:endParaRPr b="0" i="0" sz="1300" u="none" cap="none" strike="noStrike">
              <a:solidFill>
                <a:srgbClr val="000000"/>
              </a:solidFill>
              <a:latin typeface="Arial"/>
              <a:ea typeface="Arial"/>
              <a:cs typeface="Arial"/>
              <a:sym typeface="Arial"/>
            </a:endParaRPr>
          </a:p>
        </p:txBody>
      </p:sp>
      <p:pic>
        <p:nvPicPr>
          <p:cNvPr descr="image.png" id="197" name="Google Shape;197;p4"/>
          <p:cNvPicPr preferRelativeResize="0"/>
          <p:nvPr/>
        </p:nvPicPr>
        <p:blipFill rotWithShape="1">
          <a:blip r:embed="rId7">
            <a:alphaModFix/>
          </a:blip>
          <a:srcRect b="0" l="0" r="0" t="0"/>
          <a:stretch/>
        </p:blipFill>
        <p:spPr>
          <a:xfrm>
            <a:off x="674950" y="4559600"/>
            <a:ext cx="228600" cy="228600"/>
          </a:xfrm>
          <a:prstGeom prst="rect">
            <a:avLst/>
          </a:prstGeom>
          <a:noFill/>
          <a:ln>
            <a:noFill/>
          </a:ln>
        </p:spPr>
      </p:pic>
      <p:sp>
        <p:nvSpPr>
          <p:cNvPr id="198" name="Google Shape;198;p4"/>
          <p:cNvSpPr txBox="1"/>
          <p:nvPr/>
        </p:nvSpPr>
        <p:spPr>
          <a:xfrm>
            <a:off x="1072051" y="4464600"/>
            <a:ext cx="2226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F172A"/>
                </a:solidFill>
                <a:latin typeface="Poppins"/>
                <a:ea typeface="Poppins"/>
                <a:cs typeface="Poppins"/>
                <a:sym typeface="Poppins"/>
              </a:rPr>
              <a:t>TRV-05 · Temas Claro / Oscuro</a:t>
            </a:r>
            <a:endParaRPr b="0" i="0" sz="1300" u="none" cap="none" strike="noStrike">
              <a:solidFill>
                <a:srgbClr val="000000"/>
              </a:solidFill>
              <a:latin typeface="Arial"/>
              <a:ea typeface="Arial"/>
              <a:cs typeface="Arial"/>
              <a:sym typeface="Arial"/>
            </a:endParaRPr>
          </a:p>
        </p:txBody>
      </p:sp>
      <p:sp>
        <p:nvSpPr>
          <p:cNvPr id="199" name="Google Shape;199;p4"/>
          <p:cNvSpPr txBox="1"/>
          <p:nvPr/>
        </p:nvSpPr>
        <p:spPr>
          <a:xfrm>
            <a:off x="646363" y="2683350"/>
            <a:ext cx="1028700" cy="215400"/>
          </a:xfrm>
          <a:prstGeom prst="rect">
            <a:avLst/>
          </a:prstGeom>
          <a:solidFill>
            <a:srgbClr val="FFF2CC"/>
          </a:solid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783F04"/>
                </a:solidFill>
                <a:latin typeface="Lato"/>
                <a:ea typeface="Lato"/>
                <a:cs typeface="Lato"/>
                <a:sym typeface="Lato"/>
              </a:rPr>
              <a:t>Prioridad MEDIA</a:t>
            </a:r>
            <a:endParaRPr b="1" i="0" sz="800" u="none" cap="none" strike="noStrike">
              <a:solidFill>
                <a:srgbClr val="783F04"/>
              </a:solidFill>
              <a:latin typeface="Lato"/>
              <a:ea typeface="Lato"/>
              <a:cs typeface="Lato"/>
              <a:sym typeface="Lato"/>
            </a:endParaRPr>
          </a:p>
        </p:txBody>
      </p:sp>
      <p:sp>
        <p:nvSpPr>
          <p:cNvPr id="200" name="Google Shape;200;p4"/>
          <p:cNvSpPr txBox="1"/>
          <p:nvPr/>
        </p:nvSpPr>
        <p:spPr>
          <a:xfrm>
            <a:off x="533400" y="1215150"/>
            <a:ext cx="9849000" cy="215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050"/>
              <a:buFont typeface="Arial"/>
              <a:buNone/>
            </a:pPr>
            <a:r>
              <a:rPr i="0" lang="en-US" u="none" cap="none" strike="noStrike">
                <a:solidFill>
                  <a:srgbClr val="334155"/>
                </a:solidFill>
                <a:latin typeface="Lato"/>
                <a:ea typeface="Lato"/>
                <a:cs typeface="Lato"/>
                <a:sym typeface="Lato"/>
              </a:rPr>
              <a:t>Requerimientos provenientes de los estándares transversales de Alloxentric que son compartidas con CoreStream</a:t>
            </a:r>
            <a:endParaRPr i="0" u="none" cap="none" strike="noStrike">
              <a:solidFill>
                <a:srgbClr val="000000"/>
              </a:solidFill>
            </a:endParaRPr>
          </a:p>
        </p:txBody>
      </p:sp>
      <p:sp>
        <p:nvSpPr>
          <p:cNvPr id="201" name="Google Shape;201;p4"/>
          <p:cNvSpPr txBox="1"/>
          <p:nvPr/>
        </p:nvSpPr>
        <p:spPr>
          <a:xfrm>
            <a:off x="646363" y="4964325"/>
            <a:ext cx="1028700" cy="215400"/>
          </a:xfrm>
          <a:prstGeom prst="rect">
            <a:avLst/>
          </a:prstGeom>
          <a:solidFill>
            <a:srgbClr val="FFF2CC"/>
          </a:solid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783F04"/>
                </a:solidFill>
                <a:latin typeface="Lato"/>
                <a:ea typeface="Lato"/>
                <a:cs typeface="Lato"/>
                <a:sym typeface="Lato"/>
              </a:rPr>
              <a:t>Prioridad MEDIA</a:t>
            </a:r>
            <a:endParaRPr b="1" i="0" sz="800" u="none" cap="none" strike="noStrike">
              <a:solidFill>
                <a:srgbClr val="783F04"/>
              </a:solidFill>
              <a:latin typeface="Lato"/>
              <a:ea typeface="Lato"/>
              <a:cs typeface="Lato"/>
              <a:sym typeface="Lato"/>
            </a:endParaRPr>
          </a:p>
        </p:txBody>
      </p:sp>
      <p:pic>
        <p:nvPicPr>
          <p:cNvPr id="202" name="Google Shape;202;p4" title="Admin5.png"/>
          <p:cNvPicPr preferRelativeResize="0"/>
          <p:nvPr/>
        </p:nvPicPr>
        <p:blipFill rotWithShape="1">
          <a:blip r:embed="rId8">
            <a:alphaModFix/>
          </a:blip>
          <a:srcRect b="0" l="0" r="0" t="0"/>
          <a:stretch/>
        </p:blipFill>
        <p:spPr>
          <a:xfrm>
            <a:off x="4426550" y="2587475"/>
            <a:ext cx="7211773" cy="3593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5"/>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Requerimientos </a:t>
            </a:r>
            <a:r>
              <a:rPr b="1" lang="en-US" sz="2700">
                <a:solidFill>
                  <a:srgbClr val="0F172A"/>
                </a:solidFill>
                <a:latin typeface="Poppins"/>
                <a:ea typeface="Poppins"/>
                <a:cs typeface="Poppins"/>
                <a:sym typeface="Poppins"/>
              </a:rPr>
              <a:t>F</a:t>
            </a:r>
            <a:r>
              <a:rPr b="1" i="0" lang="en-US" sz="2700" u="none" cap="none" strike="noStrike">
                <a:solidFill>
                  <a:srgbClr val="0F172A"/>
                </a:solidFill>
                <a:latin typeface="Poppins"/>
                <a:ea typeface="Poppins"/>
                <a:cs typeface="Poppins"/>
                <a:sym typeface="Poppins"/>
              </a:rPr>
              <a:t>uncionales </a:t>
            </a:r>
            <a:r>
              <a:rPr b="1" lang="en-US" sz="2700">
                <a:solidFill>
                  <a:srgbClr val="0F172A"/>
                </a:solidFill>
                <a:latin typeface="Poppins"/>
                <a:ea typeface="Poppins"/>
                <a:cs typeface="Poppins"/>
                <a:sym typeface="Poppins"/>
              </a:rPr>
              <a:t>A</a:t>
            </a:r>
            <a:r>
              <a:rPr b="1" i="0" lang="en-US" sz="2700" u="none" cap="none" strike="noStrike">
                <a:solidFill>
                  <a:srgbClr val="0F172A"/>
                </a:solidFill>
                <a:latin typeface="Poppins"/>
                <a:ea typeface="Poppins"/>
                <a:cs typeface="Poppins"/>
                <a:sym typeface="Poppins"/>
              </a:rPr>
              <a:t>signados</a:t>
            </a:r>
            <a:endParaRPr b="0" i="0" sz="1400" u="none" cap="none" strike="noStrike">
              <a:solidFill>
                <a:srgbClr val="000000"/>
              </a:solidFill>
              <a:latin typeface="Arial"/>
              <a:ea typeface="Arial"/>
              <a:cs typeface="Arial"/>
              <a:sym typeface="Arial"/>
            </a:endParaRPr>
          </a:p>
        </p:txBody>
      </p:sp>
      <p:sp>
        <p:nvSpPr>
          <p:cNvPr id="208" name="Google Shape;208;p5"/>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09" name="Google Shape;209;p5"/>
          <p:cNvGraphicFramePr/>
          <p:nvPr/>
        </p:nvGraphicFramePr>
        <p:xfrm>
          <a:off x="658150" y="2024562"/>
          <a:ext cx="3000000" cy="3000000"/>
        </p:xfrm>
        <a:graphic>
          <a:graphicData uri="http://schemas.openxmlformats.org/drawingml/2006/table">
            <a:tbl>
              <a:tblPr bandRow="1" firstRow="1">
                <a:noFill/>
                <a:tableStyleId>{DDAED1CB-46BC-4002-9EFD-AE6B2585B8C7}</a:tableStyleId>
              </a:tblPr>
              <a:tblGrid>
                <a:gridCol w="1082125"/>
                <a:gridCol w="2655100"/>
                <a:gridCol w="1176625"/>
              </a:tblGrid>
              <a:tr h="666750">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latin typeface="Poppins"/>
                          <a:ea typeface="Poppins"/>
                          <a:cs typeface="Poppins"/>
                          <a:sym typeface="Poppins"/>
                        </a:rPr>
                        <a:t>ID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Requerimiento Funcional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Prioridad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WEB-05</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Gestión de </a:t>
                      </a:r>
                      <a:r>
                        <a:rPr lang="en-US" sz="1125" u="none" cap="none" strike="noStrike">
                          <a:solidFill>
                            <a:srgbClr val="334155"/>
                          </a:solidFill>
                          <a:latin typeface="Lato"/>
                          <a:ea typeface="Lato"/>
                          <a:cs typeface="Lato"/>
                          <a:sym typeface="Lato"/>
                        </a:rPr>
                        <a:t>p</a:t>
                      </a:r>
                      <a:r>
                        <a:rPr b="0" i="0" lang="en-US" sz="1125" u="none" cap="none" strike="noStrike">
                          <a:solidFill>
                            <a:srgbClr val="334155"/>
                          </a:solidFill>
                          <a:latin typeface="Lato"/>
                          <a:ea typeface="Lato"/>
                          <a:cs typeface="Lato"/>
                          <a:sym typeface="Lato"/>
                        </a:rPr>
                        <a:t>royectos </a:t>
                      </a:r>
                      <a:r>
                        <a:rPr lang="en-US" sz="1125" u="none" cap="none" strike="noStrike">
                          <a:solidFill>
                            <a:srgbClr val="334155"/>
                          </a:solidFill>
                          <a:latin typeface="Lato"/>
                          <a:ea typeface="Lato"/>
                          <a:cs typeface="Lato"/>
                          <a:sym typeface="Lato"/>
                        </a:rPr>
                        <a:t>/ aplicaciones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chemeClr val="lt1"/>
                          </a:solidFill>
                          <a:latin typeface="Lato"/>
                          <a:ea typeface="Lato"/>
                          <a:cs typeface="Lato"/>
                          <a:sym typeface="Lato"/>
                        </a:rPr>
                        <a:t>Alta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6666"/>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WEB-06</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Resumen analítico por proyecto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WEB-07</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Gestión de épicas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chemeClr val="lt1"/>
                          </a:solidFill>
                          <a:latin typeface="Lato"/>
                          <a:ea typeface="Lato"/>
                          <a:cs typeface="Lato"/>
                          <a:sym typeface="Lato"/>
                        </a:rPr>
                        <a:t>Alta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6666"/>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WEB-08</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Gestión de tickets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25"/>
                        <a:buFont typeface="Arial"/>
                        <a:buNone/>
                      </a:pPr>
                      <a:r>
                        <a:rPr lang="en-US" sz="1125" u="none" cap="none" strike="noStrike">
                          <a:solidFill>
                            <a:schemeClr val="lt1"/>
                          </a:solidFill>
                          <a:latin typeface="Lato"/>
                          <a:ea typeface="Lato"/>
                          <a:cs typeface="Lato"/>
                          <a:sym typeface="Lato"/>
                        </a:rPr>
                        <a:t>Alta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6666"/>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WEB-09</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Máquina de estados y acciones del ticket</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25"/>
                        <a:buFont typeface="Arial"/>
                        <a:buNone/>
                      </a:pPr>
                      <a:r>
                        <a:rPr lang="en-US" sz="1125" u="none" cap="none" strike="noStrike">
                          <a:solidFill>
                            <a:schemeClr val="lt1"/>
                          </a:solidFill>
                          <a:latin typeface="Lato"/>
                          <a:ea typeface="Lato"/>
                          <a:cs typeface="Lato"/>
                          <a:sym typeface="Lato"/>
                        </a:rPr>
                        <a:t>Alta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6666"/>
                    </a:solidFill>
                  </a:tcPr>
                </a:tc>
              </a:tr>
            </a:tbl>
          </a:graphicData>
        </a:graphic>
      </p:graphicFrame>
      <p:sp>
        <p:nvSpPr>
          <p:cNvPr id="210" name="Google Shape;210;p5"/>
          <p:cNvSpPr/>
          <p:nvPr/>
        </p:nvSpPr>
        <p:spPr>
          <a:xfrm>
            <a:off x="658150" y="267702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5"/>
          <p:cNvSpPr/>
          <p:nvPr/>
        </p:nvSpPr>
        <p:spPr>
          <a:xfrm>
            <a:off x="1740279" y="267702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5"/>
          <p:cNvSpPr/>
          <p:nvPr/>
        </p:nvSpPr>
        <p:spPr>
          <a:xfrm>
            <a:off x="4395373" y="267702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5"/>
          <p:cNvSpPr/>
          <p:nvPr/>
        </p:nvSpPr>
        <p:spPr>
          <a:xfrm>
            <a:off x="658150" y="334377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5"/>
          <p:cNvSpPr/>
          <p:nvPr/>
        </p:nvSpPr>
        <p:spPr>
          <a:xfrm>
            <a:off x="1740279" y="334377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5"/>
          <p:cNvSpPr/>
          <p:nvPr/>
        </p:nvSpPr>
        <p:spPr>
          <a:xfrm>
            <a:off x="4395373" y="334377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5"/>
          <p:cNvSpPr/>
          <p:nvPr/>
        </p:nvSpPr>
        <p:spPr>
          <a:xfrm>
            <a:off x="658150" y="401052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5"/>
          <p:cNvSpPr/>
          <p:nvPr/>
        </p:nvSpPr>
        <p:spPr>
          <a:xfrm>
            <a:off x="1740279" y="401052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5"/>
          <p:cNvSpPr/>
          <p:nvPr/>
        </p:nvSpPr>
        <p:spPr>
          <a:xfrm>
            <a:off x="4395373" y="401052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5"/>
          <p:cNvSpPr/>
          <p:nvPr/>
        </p:nvSpPr>
        <p:spPr>
          <a:xfrm>
            <a:off x="658150" y="467727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5"/>
          <p:cNvSpPr/>
          <p:nvPr/>
        </p:nvSpPr>
        <p:spPr>
          <a:xfrm>
            <a:off x="1740279" y="467727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5"/>
          <p:cNvSpPr/>
          <p:nvPr/>
        </p:nvSpPr>
        <p:spPr>
          <a:xfrm>
            <a:off x="4395373" y="467727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5"/>
          <p:cNvSpPr/>
          <p:nvPr/>
        </p:nvSpPr>
        <p:spPr>
          <a:xfrm>
            <a:off x="658150" y="534402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5"/>
          <p:cNvSpPr/>
          <p:nvPr/>
        </p:nvSpPr>
        <p:spPr>
          <a:xfrm>
            <a:off x="1740279" y="534402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5"/>
          <p:cNvSpPr/>
          <p:nvPr/>
        </p:nvSpPr>
        <p:spPr>
          <a:xfrm>
            <a:off x="4395373" y="534402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5"/>
          <p:cNvSpPr/>
          <p:nvPr/>
        </p:nvSpPr>
        <p:spPr>
          <a:xfrm>
            <a:off x="658150" y="601077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5"/>
          <p:cNvSpPr/>
          <p:nvPr/>
        </p:nvSpPr>
        <p:spPr>
          <a:xfrm>
            <a:off x="1740279" y="601077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5"/>
          <p:cNvSpPr/>
          <p:nvPr/>
        </p:nvSpPr>
        <p:spPr>
          <a:xfrm>
            <a:off x="4395373" y="601077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5"/>
          <p:cNvSpPr txBox="1"/>
          <p:nvPr/>
        </p:nvSpPr>
        <p:spPr>
          <a:xfrm>
            <a:off x="533400" y="1215150"/>
            <a:ext cx="10884300" cy="215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050"/>
              <a:buFont typeface="Arial"/>
              <a:buNone/>
            </a:pPr>
            <a:r>
              <a:rPr i="0" lang="en-US" u="none" cap="none" strike="noStrike">
                <a:solidFill>
                  <a:srgbClr val="334155"/>
                </a:solidFill>
                <a:latin typeface="Lato"/>
                <a:ea typeface="Lato"/>
                <a:cs typeface="Lato"/>
                <a:sym typeface="Lato"/>
              </a:rPr>
              <a:t>Para proyectos, épicas, tickets, subtareas y documentos de CoreStream</a:t>
            </a:r>
            <a:endParaRPr i="0" u="none" cap="none" strike="noStrike">
              <a:solidFill>
                <a:srgbClr val="000000"/>
              </a:solidFill>
            </a:endParaRPr>
          </a:p>
        </p:txBody>
      </p:sp>
      <p:graphicFrame>
        <p:nvGraphicFramePr>
          <p:cNvPr id="229" name="Google Shape;229;p5"/>
          <p:cNvGraphicFramePr/>
          <p:nvPr/>
        </p:nvGraphicFramePr>
        <p:xfrm>
          <a:off x="6620000" y="2015049"/>
          <a:ext cx="3000000" cy="3000000"/>
        </p:xfrm>
        <a:graphic>
          <a:graphicData uri="http://schemas.openxmlformats.org/drawingml/2006/table">
            <a:tbl>
              <a:tblPr bandRow="1" firstRow="1">
                <a:noFill/>
                <a:tableStyleId>{DDAED1CB-46BC-4002-9EFD-AE6B2585B8C7}</a:tableStyleId>
              </a:tblPr>
              <a:tblGrid>
                <a:gridCol w="1082125"/>
                <a:gridCol w="2655100"/>
                <a:gridCol w="1176625"/>
              </a:tblGrid>
              <a:tr h="666750">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latin typeface="Poppins"/>
                          <a:ea typeface="Poppins"/>
                          <a:cs typeface="Poppins"/>
                          <a:sym typeface="Poppins"/>
                        </a:rPr>
                        <a:t>ID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Requerimiento Funcional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Prioridad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WEB-1</a:t>
                      </a:r>
                      <a:r>
                        <a:rPr b="1" lang="en-US" sz="1125" u="none" cap="none" strike="noStrike">
                          <a:solidFill>
                            <a:srgbClr val="334155"/>
                          </a:solidFill>
                          <a:latin typeface="Lato"/>
                          <a:ea typeface="Lato"/>
                          <a:cs typeface="Lato"/>
                          <a:sym typeface="Lato"/>
                        </a:rPr>
                        <a:t>1</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Historial de eventos del ticket</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WEB-1</a:t>
                      </a:r>
                      <a:r>
                        <a:rPr b="1" lang="en-US" sz="1125" u="none" cap="none" strike="noStrike">
                          <a:solidFill>
                            <a:srgbClr val="334155"/>
                          </a:solidFill>
                          <a:latin typeface="Lato"/>
                          <a:ea typeface="Lato"/>
                          <a:cs typeface="Lato"/>
                          <a:sym typeface="Lato"/>
                        </a:rPr>
                        <a:t>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Registro de tiemp</a:t>
                      </a:r>
                      <a:r>
                        <a:rPr lang="en-US" sz="1125" u="none" cap="none" strike="noStrike">
                          <a:solidFill>
                            <a:srgbClr val="334155"/>
                          </a:solidFill>
                          <a:latin typeface="Lato"/>
                          <a:ea typeface="Lato"/>
                          <a:cs typeface="Lato"/>
                          <a:sym typeface="Lato"/>
                        </a:rPr>
                        <a:t>o trabajado y bloqueado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WEB-1</a:t>
                      </a:r>
                      <a:r>
                        <a:rPr b="1" lang="en-US" sz="1125" u="none" cap="none" strike="noStrike">
                          <a:solidFill>
                            <a:srgbClr val="334155"/>
                          </a:solidFill>
                          <a:latin typeface="Lato"/>
                          <a:ea typeface="Lato"/>
                          <a:cs typeface="Lato"/>
                          <a:sym typeface="Lato"/>
                        </a:rPr>
                        <a:t>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Gestión </a:t>
                      </a:r>
                      <a:r>
                        <a:rPr lang="en-US" sz="1125" u="none" cap="none" strike="noStrike">
                          <a:solidFill>
                            <a:srgbClr val="334155"/>
                          </a:solidFill>
                          <a:latin typeface="Lato"/>
                          <a:ea typeface="Lato"/>
                          <a:cs typeface="Lato"/>
                          <a:sym typeface="Lato"/>
                        </a:rPr>
                        <a:t>de subtareas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solidFill>
                            <a:srgbClr val="334155"/>
                          </a:solidFill>
                          <a:latin typeface="Lato"/>
                          <a:ea typeface="Lato"/>
                          <a:cs typeface="Lato"/>
                          <a:sym typeface="Lato"/>
                        </a:rPr>
                        <a:t>WEB</a:t>
                      </a:r>
                      <a:r>
                        <a:rPr b="1" lang="en-US" sz="1125" u="none" cap="none" strike="noStrike">
                          <a:solidFill>
                            <a:srgbClr val="334155"/>
                          </a:solidFill>
                          <a:latin typeface="Lato"/>
                          <a:ea typeface="Lato"/>
                          <a:cs typeface="Lato"/>
                          <a:sym typeface="Lato"/>
                        </a:rPr>
                        <a:t>-19</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rgbClr val="334155"/>
                          </a:solidFill>
                          <a:latin typeface="Lato"/>
                          <a:ea typeface="Lato"/>
                          <a:cs typeface="Lato"/>
                          <a:sym typeface="Lato"/>
                        </a:rPr>
                        <a:t>Gestión de documentos adjuntos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chemeClr val="lt1"/>
                          </a:solidFill>
                          <a:latin typeface="Lato"/>
                          <a:ea typeface="Lato"/>
                          <a:cs typeface="Lato"/>
                          <a:sym typeface="Lato"/>
                        </a:rPr>
                        <a:t>Baja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AA84F"/>
                    </a:solidFill>
                  </a:tcPr>
                </a:tc>
              </a:tr>
            </a:tbl>
          </a:graphicData>
        </a:graphic>
      </p:graphicFrame>
      <p:sp>
        <p:nvSpPr>
          <p:cNvPr id="230" name="Google Shape;230;p5"/>
          <p:cNvSpPr/>
          <p:nvPr/>
        </p:nvSpPr>
        <p:spPr>
          <a:xfrm>
            <a:off x="6620000" y="266751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1" name="Google Shape;231;p5"/>
          <p:cNvSpPr/>
          <p:nvPr/>
        </p:nvSpPr>
        <p:spPr>
          <a:xfrm>
            <a:off x="7702129" y="266751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5"/>
          <p:cNvSpPr/>
          <p:nvPr/>
        </p:nvSpPr>
        <p:spPr>
          <a:xfrm>
            <a:off x="10357223" y="266751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p5"/>
          <p:cNvSpPr/>
          <p:nvPr/>
        </p:nvSpPr>
        <p:spPr>
          <a:xfrm>
            <a:off x="6620000" y="333426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5"/>
          <p:cNvSpPr/>
          <p:nvPr/>
        </p:nvSpPr>
        <p:spPr>
          <a:xfrm>
            <a:off x="7702129" y="333426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5"/>
          <p:cNvSpPr/>
          <p:nvPr/>
        </p:nvSpPr>
        <p:spPr>
          <a:xfrm>
            <a:off x="10357223" y="333426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5"/>
          <p:cNvSpPr/>
          <p:nvPr/>
        </p:nvSpPr>
        <p:spPr>
          <a:xfrm>
            <a:off x="6620000" y="400101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p5"/>
          <p:cNvSpPr/>
          <p:nvPr/>
        </p:nvSpPr>
        <p:spPr>
          <a:xfrm>
            <a:off x="7702129" y="400101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5"/>
          <p:cNvSpPr/>
          <p:nvPr/>
        </p:nvSpPr>
        <p:spPr>
          <a:xfrm>
            <a:off x="10357223" y="400101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p5"/>
          <p:cNvSpPr/>
          <p:nvPr/>
        </p:nvSpPr>
        <p:spPr>
          <a:xfrm>
            <a:off x="6620000" y="466776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5"/>
          <p:cNvSpPr/>
          <p:nvPr/>
        </p:nvSpPr>
        <p:spPr>
          <a:xfrm>
            <a:off x="7702129" y="466776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5"/>
          <p:cNvSpPr/>
          <p:nvPr/>
        </p:nvSpPr>
        <p:spPr>
          <a:xfrm>
            <a:off x="10357223" y="466776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5"/>
          <p:cNvSpPr/>
          <p:nvPr/>
        </p:nvSpPr>
        <p:spPr>
          <a:xfrm>
            <a:off x="6620000" y="533451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5"/>
          <p:cNvSpPr/>
          <p:nvPr/>
        </p:nvSpPr>
        <p:spPr>
          <a:xfrm>
            <a:off x="7702129" y="533451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5"/>
          <p:cNvSpPr/>
          <p:nvPr/>
        </p:nvSpPr>
        <p:spPr>
          <a:xfrm>
            <a:off x="10357223" y="533451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6"/>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Nuevas </a:t>
            </a:r>
            <a:r>
              <a:rPr b="1" lang="en-US" sz="2700">
                <a:solidFill>
                  <a:srgbClr val="0F172A"/>
                </a:solidFill>
                <a:latin typeface="Poppins"/>
                <a:ea typeface="Poppins"/>
                <a:cs typeface="Poppins"/>
                <a:sym typeface="Poppins"/>
              </a:rPr>
              <a:t>F</a:t>
            </a:r>
            <a:r>
              <a:rPr b="1" i="0" lang="en-US" sz="2700" u="none" cap="none" strike="noStrike">
                <a:solidFill>
                  <a:srgbClr val="0F172A"/>
                </a:solidFill>
                <a:latin typeface="Poppins"/>
                <a:ea typeface="Poppins"/>
                <a:cs typeface="Poppins"/>
                <a:sym typeface="Poppins"/>
              </a:rPr>
              <a:t>uncionalidades </a:t>
            </a:r>
            <a:r>
              <a:rPr b="1" lang="en-US" sz="2700">
                <a:solidFill>
                  <a:srgbClr val="0F172A"/>
                </a:solidFill>
                <a:latin typeface="Poppins"/>
                <a:ea typeface="Poppins"/>
                <a:cs typeface="Poppins"/>
                <a:sym typeface="Poppins"/>
              </a:rPr>
              <a:t>A</a:t>
            </a:r>
            <a:r>
              <a:rPr b="1" i="0" lang="en-US" sz="2700" u="none" cap="none" strike="noStrike">
                <a:solidFill>
                  <a:srgbClr val="0F172A"/>
                </a:solidFill>
                <a:latin typeface="Poppins"/>
                <a:ea typeface="Poppins"/>
                <a:cs typeface="Poppins"/>
                <a:sym typeface="Poppins"/>
              </a:rPr>
              <a:t>signadas</a:t>
            </a:r>
            <a:endParaRPr b="0" i="0" sz="1400" u="none" cap="none" strike="noStrike">
              <a:solidFill>
                <a:srgbClr val="000000"/>
              </a:solidFill>
              <a:latin typeface="Arial"/>
              <a:ea typeface="Arial"/>
              <a:cs typeface="Arial"/>
              <a:sym typeface="Arial"/>
            </a:endParaRPr>
          </a:p>
        </p:txBody>
      </p:sp>
      <p:sp>
        <p:nvSpPr>
          <p:cNvPr id="250" name="Google Shape;250;p6"/>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51" name="Google Shape;251;p6"/>
          <p:cNvGraphicFramePr/>
          <p:nvPr/>
        </p:nvGraphicFramePr>
        <p:xfrm>
          <a:off x="658075" y="2424362"/>
          <a:ext cx="3000000" cy="3000000"/>
        </p:xfrm>
        <a:graphic>
          <a:graphicData uri="http://schemas.openxmlformats.org/drawingml/2006/table">
            <a:tbl>
              <a:tblPr bandRow="1" firstRow="1">
                <a:noFill/>
                <a:tableStyleId>{DDAED1CB-46BC-4002-9EFD-AE6B2585B8C7}</a:tableStyleId>
              </a:tblPr>
              <a:tblGrid>
                <a:gridCol w="1082125"/>
                <a:gridCol w="2655100"/>
                <a:gridCol w="1176625"/>
              </a:tblGrid>
              <a:tr h="666750">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latin typeface="Poppins"/>
                          <a:ea typeface="Poppins"/>
                          <a:cs typeface="Poppins"/>
                          <a:sym typeface="Poppins"/>
                        </a:rPr>
                        <a:t>ID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Requerimiento Funcional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Prioridad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lang="en-US" sz="1125" u="none" cap="none" strike="noStrike">
                          <a:solidFill>
                            <a:srgbClr val="334155"/>
                          </a:solidFill>
                          <a:latin typeface="Lato"/>
                          <a:ea typeface="Lato"/>
                          <a:cs typeface="Lato"/>
                          <a:sym typeface="Lato"/>
                        </a:rPr>
                        <a:t>NEW-01</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Comentarios y menciones en tic</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0" i="0" lang="en-US" sz="1125" u="none" cap="none" strike="noStrike">
                          <a:solidFill>
                            <a:schemeClr val="lt1"/>
                          </a:solidFill>
                          <a:latin typeface="Lato"/>
                          <a:ea typeface="Lato"/>
                          <a:cs typeface="Lato"/>
                          <a:sym typeface="Lato"/>
                        </a:rPr>
                        <a:t>Alta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6666"/>
                    </a:solidFill>
                  </a:tcPr>
                </a:tc>
              </a:tr>
              <a:tr h="666750">
                <a:tc>
                  <a:txBody>
                    <a:bodyPr/>
                    <a:lstStyle/>
                    <a:p>
                      <a:pPr indent="0" lvl="0" marL="0" marR="0" rtl="0" algn="ctr">
                        <a:lnSpc>
                          <a:spcPct val="100000"/>
                        </a:lnSpc>
                        <a:spcBef>
                          <a:spcPts val="0"/>
                        </a:spcBef>
                        <a:spcAft>
                          <a:spcPts val="0"/>
                        </a:spcAft>
                        <a:buClr>
                          <a:schemeClr val="dk1"/>
                        </a:buClr>
                        <a:buSzPts val="1125"/>
                        <a:buFont typeface="Arial"/>
                        <a:buNone/>
                      </a:pPr>
                      <a:r>
                        <a:rPr b="1" lang="en-US" sz="1125" u="none" cap="none" strike="noStrike">
                          <a:solidFill>
                            <a:srgbClr val="334155"/>
                          </a:solidFill>
                          <a:latin typeface="Lato"/>
                          <a:ea typeface="Lato"/>
                          <a:cs typeface="Lato"/>
                          <a:sym typeface="Lato"/>
                        </a:rPr>
                        <a:t>NEW-02</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Adjuntar archivos y evidencia a tickets e incidencias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chemeClr val="dk1"/>
                        </a:buClr>
                        <a:buSzPts val="1125"/>
                        <a:buFont typeface="Arial"/>
                        <a:buNone/>
                      </a:pPr>
                      <a:r>
                        <a:rPr b="1" lang="en-US" sz="1125" u="none" cap="none" strike="noStrike">
                          <a:solidFill>
                            <a:srgbClr val="334155"/>
                          </a:solidFill>
                          <a:latin typeface="Lato"/>
                          <a:ea typeface="Lato"/>
                          <a:cs typeface="Lato"/>
                          <a:sym typeface="Lato"/>
                        </a:rPr>
                        <a:t>NEW-03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Etiquetas (labels) y búsqueda avanzada</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chemeClr val="dk1"/>
                        </a:buClr>
                        <a:buSzPts val="1125"/>
                        <a:buFont typeface="Arial"/>
                        <a:buNone/>
                      </a:pPr>
                      <a:r>
                        <a:rPr b="1" lang="en-US" sz="1125" u="none" cap="none" strike="noStrike">
                          <a:solidFill>
                            <a:srgbClr val="334155"/>
                          </a:solidFill>
                          <a:latin typeface="Lato"/>
                          <a:ea typeface="Lato"/>
                          <a:cs typeface="Lato"/>
                          <a:sym typeface="Lato"/>
                        </a:rPr>
                        <a:t>NEW-04</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Tablero Kanban interactivo con arrastrar y soltar</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bl>
          </a:graphicData>
        </a:graphic>
      </p:graphicFrame>
      <p:sp>
        <p:nvSpPr>
          <p:cNvPr id="252" name="Google Shape;252;p6"/>
          <p:cNvSpPr/>
          <p:nvPr/>
        </p:nvSpPr>
        <p:spPr>
          <a:xfrm>
            <a:off x="658075" y="307682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p6"/>
          <p:cNvSpPr/>
          <p:nvPr/>
        </p:nvSpPr>
        <p:spPr>
          <a:xfrm>
            <a:off x="1740204" y="307682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6"/>
          <p:cNvSpPr/>
          <p:nvPr/>
        </p:nvSpPr>
        <p:spPr>
          <a:xfrm>
            <a:off x="4395298" y="307682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6"/>
          <p:cNvSpPr/>
          <p:nvPr/>
        </p:nvSpPr>
        <p:spPr>
          <a:xfrm>
            <a:off x="658075" y="374357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6"/>
          <p:cNvSpPr/>
          <p:nvPr/>
        </p:nvSpPr>
        <p:spPr>
          <a:xfrm>
            <a:off x="1740204" y="374357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6"/>
          <p:cNvSpPr/>
          <p:nvPr/>
        </p:nvSpPr>
        <p:spPr>
          <a:xfrm>
            <a:off x="4395298" y="374357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6"/>
          <p:cNvSpPr/>
          <p:nvPr/>
        </p:nvSpPr>
        <p:spPr>
          <a:xfrm>
            <a:off x="658075" y="441032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6"/>
          <p:cNvSpPr/>
          <p:nvPr/>
        </p:nvSpPr>
        <p:spPr>
          <a:xfrm>
            <a:off x="1740204" y="441032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6"/>
          <p:cNvSpPr/>
          <p:nvPr/>
        </p:nvSpPr>
        <p:spPr>
          <a:xfrm>
            <a:off x="4395298" y="441032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6"/>
          <p:cNvSpPr/>
          <p:nvPr/>
        </p:nvSpPr>
        <p:spPr>
          <a:xfrm>
            <a:off x="658075" y="507707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6"/>
          <p:cNvSpPr/>
          <p:nvPr/>
        </p:nvSpPr>
        <p:spPr>
          <a:xfrm>
            <a:off x="1740204" y="507707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p6"/>
          <p:cNvSpPr/>
          <p:nvPr/>
        </p:nvSpPr>
        <p:spPr>
          <a:xfrm>
            <a:off x="4395298" y="507707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6"/>
          <p:cNvSpPr/>
          <p:nvPr/>
        </p:nvSpPr>
        <p:spPr>
          <a:xfrm>
            <a:off x="658075" y="5743825"/>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6"/>
          <p:cNvSpPr/>
          <p:nvPr/>
        </p:nvSpPr>
        <p:spPr>
          <a:xfrm>
            <a:off x="1740204" y="5743825"/>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6"/>
          <p:cNvSpPr/>
          <p:nvPr/>
        </p:nvSpPr>
        <p:spPr>
          <a:xfrm>
            <a:off x="4395298" y="5743825"/>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p6"/>
          <p:cNvSpPr txBox="1"/>
          <p:nvPr/>
        </p:nvSpPr>
        <p:spPr>
          <a:xfrm>
            <a:off x="533400" y="1215150"/>
            <a:ext cx="11099700" cy="215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050"/>
              <a:buFont typeface="Arial"/>
              <a:buNone/>
            </a:pPr>
            <a:r>
              <a:rPr i="0" lang="en-US" u="none" cap="none" strike="noStrike">
                <a:solidFill>
                  <a:srgbClr val="334155"/>
                </a:solidFill>
                <a:latin typeface="Lato"/>
                <a:ea typeface="Lato"/>
                <a:cs typeface="Lato"/>
                <a:sym typeface="Lato"/>
              </a:rPr>
              <a:t>Funcionalidades que no forman parte de la documentación de origen, propuestas a nuestro equipo para reforzar la plataforma de CoreStream</a:t>
            </a:r>
            <a:endParaRPr i="0" u="none" cap="none" strike="noStrike">
              <a:solidFill>
                <a:srgbClr val="000000"/>
              </a:solidFill>
            </a:endParaRPr>
          </a:p>
        </p:txBody>
      </p:sp>
      <p:graphicFrame>
        <p:nvGraphicFramePr>
          <p:cNvPr id="268" name="Google Shape;268;p6"/>
          <p:cNvGraphicFramePr/>
          <p:nvPr/>
        </p:nvGraphicFramePr>
        <p:xfrm>
          <a:off x="6659375" y="2424349"/>
          <a:ext cx="3000000" cy="3000000"/>
        </p:xfrm>
        <a:graphic>
          <a:graphicData uri="http://schemas.openxmlformats.org/drawingml/2006/table">
            <a:tbl>
              <a:tblPr bandRow="1" firstRow="1">
                <a:noFill/>
                <a:tableStyleId>{DDAED1CB-46BC-4002-9EFD-AE6B2585B8C7}</a:tableStyleId>
              </a:tblPr>
              <a:tblGrid>
                <a:gridCol w="1082125"/>
                <a:gridCol w="2655100"/>
                <a:gridCol w="1176625"/>
              </a:tblGrid>
              <a:tr h="666750">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latin typeface="Poppins"/>
                          <a:ea typeface="Poppins"/>
                          <a:cs typeface="Poppins"/>
                          <a:sym typeface="Poppins"/>
                        </a:rPr>
                        <a:t>ID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Requerimiento Funcional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b="1" i="0" lang="en-US" sz="1125" u="none" cap="none" strike="noStrike">
                          <a:latin typeface="Poppins"/>
                          <a:ea typeface="Poppins"/>
                          <a:cs typeface="Poppins"/>
                          <a:sym typeface="Poppins"/>
                        </a:rPr>
                        <a:t>Prioridad</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lang="en-US" sz="1125" u="none" cap="none" strike="noStrike">
                          <a:solidFill>
                            <a:srgbClr val="334155"/>
                          </a:solidFill>
                          <a:latin typeface="Lato"/>
                          <a:ea typeface="Lato"/>
                          <a:cs typeface="Lato"/>
                          <a:sym typeface="Lato"/>
                        </a:rPr>
                        <a:t>NEW-05</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Planificación de sprints o iteraciones</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lang="en-US" sz="1125" u="none" cap="none" strike="noStrike">
                          <a:solidFill>
                            <a:srgbClr val="334155"/>
                          </a:solidFill>
                          <a:latin typeface="Lato"/>
                          <a:ea typeface="Lato"/>
                          <a:cs typeface="Lato"/>
                          <a:sym typeface="Lato"/>
                        </a:rPr>
                        <a:t>NEW-06</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25"/>
                        <a:buFont typeface="Arial"/>
                        <a:buNone/>
                      </a:pPr>
                      <a:r>
                        <a:rPr lang="en-US" sz="1125" u="none" cap="none" strike="noStrike">
                          <a:solidFill>
                            <a:srgbClr val="334155"/>
                          </a:solidFill>
                          <a:latin typeface="Lato"/>
                          <a:ea typeface="Lato"/>
                          <a:cs typeface="Lato"/>
                          <a:sym typeface="Lato"/>
                        </a:rPr>
                        <a:t>SLA y escalamiento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25"/>
                        <a:buFont typeface="Arial"/>
                        <a:buNone/>
                      </a:pPr>
                      <a:r>
                        <a:rPr lang="en-US" sz="1125" u="none" cap="none" strike="noStrike">
                          <a:solidFill>
                            <a:schemeClr val="lt1"/>
                          </a:solidFill>
                          <a:latin typeface="Lato"/>
                          <a:ea typeface="Lato"/>
                          <a:cs typeface="Lato"/>
                          <a:sym typeface="Lato"/>
                        </a:rPr>
                        <a:t>Alta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06666"/>
                    </a:solidFill>
                  </a:tcPr>
                </a:tc>
              </a:tr>
              <a:tr h="666750">
                <a:tc>
                  <a:txBody>
                    <a:bodyPr/>
                    <a:lstStyle/>
                    <a:p>
                      <a:pPr indent="0" lvl="0" marL="0" marR="0" rtl="0" algn="ctr">
                        <a:lnSpc>
                          <a:spcPct val="100000"/>
                        </a:lnSpc>
                        <a:spcBef>
                          <a:spcPts val="0"/>
                        </a:spcBef>
                        <a:spcAft>
                          <a:spcPts val="0"/>
                        </a:spcAft>
                        <a:buClr>
                          <a:srgbClr val="000000"/>
                        </a:buClr>
                        <a:buSzPts val="1125"/>
                        <a:buFont typeface="Arial"/>
                        <a:buNone/>
                      </a:pPr>
                      <a:r>
                        <a:rPr b="1" lang="en-US" sz="1125" u="none" cap="none" strike="noStrike">
                          <a:solidFill>
                            <a:srgbClr val="334155"/>
                          </a:solidFill>
                          <a:latin typeface="Lato"/>
                          <a:ea typeface="Lato"/>
                          <a:cs typeface="Lato"/>
                          <a:sym typeface="Lato"/>
                        </a:rPr>
                        <a:t>NEW-07</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Reportes exportables (PDF / Excel)</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r h="666750">
                <a:tc>
                  <a:txBody>
                    <a:bodyPr/>
                    <a:lstStyle/>
                    <a:p>
                      <a:pPr indent="0" lvl="0" marL="0" marR="0" rtl="0" algn="ctr">
                        <a:lnSpc>
                          <a:spcPct val="100000"/>
                        </a:lnSpc>
                        <a:spcBef>
                          <a:spcPts val="0"/>
                        </a:spcBef>
                        <a:spcAft>
                          <a:spcPts val="0"/>
                        </a:spcAft>
                        <a:buClr>
                          <a:schemeClr val="dk1"/>
                        </a:buClr>
                        <a:buSzPts val="1125"/>
                        <a:buFont typeface="Arial"/>
                        <a:buNone/>
                      </a:pPr>
                      <a:r>
                        <a:rPr b="1" lang="en-US" sz="1125" u="none" cap="none" strike="noStrike">
                          <a:solidFill>
                            <a:srgbClr val="334155"/>
                          </a:solidFill>
                          <a:latin typeface="Lato"/>
                          <a:ea typeface="Lato"/>
                          <a:cs typeface="Lato"/>
                          <a:sym typeface="Lato"/>
                        </a:rPr>
                        <a:t>NEW-13</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25"/>
                        <a:buFont typeface="Arial"/>
                        <a:buNone/>
                      </a:pPr>
                      <a:r>
                        <a:rPr lang="en-US" sz="1125" u="none" cap="none" strike="noStrike">
                          <a:solidFill>
                            <a:srgbClr val="334155"/>
                          </a:solidFill>
                          <a:latin typeface="Lato"/>
                          <a:ea typeface="Lato"/>
                          <a:cs typeface="Lato"/>
                          <a:sym typeface="Lato"/>
                        </a:rPr>
                        <a:t>Buscador global unificado</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25"/>
                        <a:buFont typeface="Arial"/>
                        <a:buNone/>
                      </a:pPr>
                      <a:r>
                        <a:rPr lang="en-US" sz="1125" u="none" cap="none" strike="noStrike">
                          <a:solidFill>
                            <a:schemeClr val="lt1"/>
                          </a:solidFill>
                          <a:latin typeface="Lato"/>
                          <a:ea typeface="Lato"/>
                          <a:cs typeface="Lato"/>
                          <a:sym typeface="Lato"/>
                        </a:rPr>
                        <a:t>Media</a:t>
                      </a:r>
                      <a:endParaRPr sz="1400" u="none" cap="none" strike="noStrike">
                        <a:solidFill>
                          <a:schemeClr val="lt1"/>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C35F"/>
                    </a:solidFill>
                  </a:tcPr>
                </a:tc>
              </a:tr>
            </a:tbl>
          </a:graphicData>
        </a:graphic>
      </p:graphicFrame>
      <p:sp>
        <p:nvSpPr>
          <p:cNvPr id="269" name="Google Shape;269;p6"/>
          <p:cNvSpPr/>
          <p:nvPr/>
        </p:nvSpPr>
        <p:spPr>
          <a:xfrm>
            <a:off x="6659375" y="307681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6"/>
          <p:cNvSpPr/>
          <p:nvPr/>
        </p:nvSpPr>
        <p:spPr>
          <a:xfrm>
            <a:off x="7741504" y="307681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6"/>
          <p:cNvSpPr/>
          <p:nvPr/>
        </p:nvSpPr>
        <p:spPr>
          <a:xfrm>
            <a:off x="10396598" y="307681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2" name="Google Shape;272;p6"/>
          <p:cNvSpPr/>
          <p:nvPr/>
        </p:nvSpPr>
        <p:spPr>
          <a:xfrm>
            <a:off x="6659375" y="374356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6"/>
          <p:cNvSpPr/>
          <p:nvPr/>
        </p:nvSpPr>
        <p:spPr>
          <a:xfrm>
            <a:off x="7741504" y="374356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6"/>
          <p:cNvSpPr/>
          <p:nvPr/>
        </p:nvSpPr>
        <p:spPr>
          <a:xfrm>
            <a:off x="10396598" y="374356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6"/>
          <p:cNvSpPr/>
          <p:nvPr/>
        </p:nvSpPr>
        <p:spPr>
          <a:xfrm>
            <a:off x="6659375" y="441031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6"/>
          <p:cNvSpPr/>
          <p:nvPr/>
        </p:nvSpPr>
        <p:spPr>
          <a:xfrm>
            <a:off x="7741504" y="441031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6"/>
          <p:cNvSpPr/>
          <p:nvPr/>
        </p:nvSpPr>
        <p:spPr>
          <a:xfrm>
            <a:off x="10396598" y="441031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6"/>
          <p:cNvSpPr/>
          <p:nvPr/>
        </p:nvSpPr>
        <p:spPr>
          <a:xfrm>
            <a:off x="6659375" y="507706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6"/>
          <p:cNvSpPr/>
          <p:nvPr/>
        </p:nvSpPr>
        <p:spPr>
          <a:xfrm>
            <a:off x="7741504" y="507706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6"/>
          <p:cNvSpPr/>
          <p:nvPr/>
        </p:nvSpPr>
        <p:spPr>
          <a:xfrm>
            <a:off x="10396598" y="507706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6"/>
          <p:cNvSpPr/>
          <p:nvPr/>
        </p:nvSpPr>
        <p:spPr>
          <a:xfrm>
            <a:off x="6659375" y="5743813"/>
            <a:ext cx="1082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6"/>
          <p:cNvSpPr/>
          <p:nvPr/>
        </p:nvSpPr>
        <p:spPr>
          <a:xfrm>
            <a:off x="7741504" y="5743813"/>
            <a:ext cx="2655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6"/>
          <p:cNvSpPr/>
          <p:nvPr/>
        </p:nvSpPr>
        <p:spPr>
          <a:xfrm>
            <a:off x="10396598" y="5743813"/>
            <a:ext cx="1176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pic>
        <p:nvPicPr>
          <p:cNvPr descr="image.png" id="288" name="Google Shape;288;p7"/>
          <p:cNvPicPr preferRelativeResize="0"/>
          <p:nvPr/>
        </p:nvPicPr>
        <p:blipFill rotWithShape="1">
          <a:blip r:embed="rId3">
            <a:alphaModFix/>
          </a:blip>
          <a:srcRect b="0" l="0" r="0" t="0"/>
          <a:stretch/>
        </p:blipFill>
        <p:spPr>
          <a:xfrm>
            <a:off x="2979277" y="1675650"/>
            <a:ext cx="2859355" cy="2172903"/>
          </a:xfrm>
          <a:prstGeom prst="rect">
            <a:avLst/>
          </a:prstGeom>
          <a:noFill/>
          <a:ln>
            <a:noFill/>
          </a:ln>
        </p:spPr>
      </p:pic>
      <p:pic>
        <p:nvPicPr>
          <p:cNvPr descr="image.png" id="289" name="Google Shape;289;p7"/>
          <p:cNvPicPr preferRelativeResize="0"/>
          <p:nvPr/>
        </p:nvPicPr>
        <p:blipFill rotWithShape="1">
          <a:blip r:embed="rId4">
            <a:alphaModFix/>
          </a:blip>
          <a:srcRect b="0" l="0" r="0" t="0"/>
          <a:stretch/>
        </p:blipFill>
        <p:spPr>
          <a:xfrm>
            <a:off x="6353358" y="1675650"/>
            <a:ext cx="2859355" cy="2172903"/>
          </a:xfrm>
          <a:prstGeom prst="rect">
            <a:avLst/>
          </a:prstGeom>
          <a:noFill/>
          <a:ln>
            <a:noFill/>
          </a:ln>
        </p:spPr>
      </p:pic>
      <p:pic>
        <p:nvPicPr>
          <p:cNvPr descr="image.png" id="290" name="Google Shape;290;p7"/>
          <p:cNvPicPr preferRelativeResize="0"/>
          <p:nvPr/>
        </p:nvPicPr>
        <p:blipFill rotWithShape="1">
          <a:blip r:embed="rId4">
            <a:alphaModFix/>
          </a:blip>
          <a:srcRect b="0" l="0" r="0" t="0"/>
          <a:stretch/>
        </p:blipFill>
        <p:spPr>
          <a:xfrm>
            <a:off x="2979275" y="4092788"/>
            <a:ext cx="2859355" cy="2172903"/>
          </a:xfrm>
          <a:prstGeom prst="rect">
            <a:avLst/>
          </a:prstGeom>
          <a:noFill/>
          <a:ln>
            <a:noFill/>
          </a:ln>
        </p:spPr>
      </p:pic>
      <p:pic>
        <p:nvPicPr>
          <p:cNvPr descr="image.png" id="291" name="Google Shape;291;p7"/>
          <p:cNvPicPr preferRelativeResize="0"/>
          <p:nvPr/>
        </p:nvPicPr>
        <p:blipFill rotWithShape="1">
          <a:blip r:embed="rId5">
            <a:alphaModFix/>
          </a:blip>
          <a:srcRect b="0" l="0" r="0" t="0"/>
          <a:stretch/>
        </p:blipFill>
        <p:spPr>
          <a:xfrm>
            <a:off x="6353370" y="4097890"/>
            <a:ext cx="2859355" cy="2172903"/>
          </a:xfrm>
          <a:prstGeom prst="rect">
            <a:avLst/>
          </a:prstGeom>
          <a:noFill/>
          <a:ln>
            <a:noFill/>
          </a:ln>
        </p:spPr>
      </p:pic>
      <p:sp>
        <p:nvSpPr>
          <p:cNvPr id="292" name="Google Shape;292;p7"/>
          <p:cNvSpPr txBox="1"/>
          <p:nvPr/>
        </p:nvSpPr>
        <p:spPr>
          <a:xfrm>
            <a:off x="533400" y="457200"/>
            <a:ext cx="11658600" cy="5619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Estructura Modular de CoreStream Web</a:t>
            </a:r>
            <a:endParaRPr b="0" i="0" sz="1400" u="none" cap="none" strike="noStrike">
              <a:solidFill>
                <a:srgbClr val="000000"/>
              </a:solidFill>
              <a:latin typeface="Arial"/>
              <a:ea typeface="Arial"/>
              <a:cs typeface="Arial"/>
              <a:sym typeface="Arial"/>
            </a:endParaRPr>
          </a:p>
        </p:txBody>
      </p:sp>
      <p:sp>
        <p:nvSpPr>
          <p:cNvPr id="293" name="Google Shape;293;p7"/>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294" name="Google Shape;294;p7"/>
          <p:cNvPicPr preferRelativeResize="0"/>
          <p:nvPr/>
        </p:nvPicPr>
        <p:blipFill rotWithShape="1">
          <a:blip r:embed="rId6">
            <a:alphaModFix/>
          </a:blip>
          <a:srcRect b="0" l="0" r="0" t="0"/>
          <a:stretch/>
        </p:blipFill>
        <p:spPr>
          <a:xfrm>
            <a:off x="4264438" y="1933716"/>
            <a:ext cx="289032" cy="330323"/>
          </a:xfrm>
          <a:prstGeom prst="rect">
            <a:avLst/>
          </a:prstGeom>
          <a:noFill/>
          <a:ln>
            <a:noFill/>
          </a:ln>
        </p:spPr>
      </p:pic>
      <p:sp>
        <p:nvSpPr>
          <p:cNvPr id="295" name="Google Shape;295;p7"/>
          <p:cNvSpPr txBox="1"/>
          <p:nvPr/>
        </p:nvSpPr>
        <p:spPr>
          <a:xfrm>
            <a:off x="3178760" y="2387913"/>
            <a:ext cx="24606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F172A"/>
                </a:solidFill>
                <a:latin typeface="Poppins"/>
                <a:ea typeface="Poppins"/>
                <a:cs typeface="Poppins"/>
                <a:sym typeface="Poppins"/>
              </a:rPr>
              <a:t>THE BUILDER</a:t>
            </a:r>
            <a:endParaRPr b="0" i="0" sz="1517" u="none" cap="none" strike="noStrike">
              <a:solidFill>
                <a:srgbClr val="000000"/>
              </a:solidFill>
              <a:latin typeface="Arial"/>
              <a:ea typeface="Arial"/>
              <a:cs typeface="Arial"/>
              <a:sym typeface="Arial"/>
            </a:endParaRPr>
          </a:p>
        </p:txBody>
      </p:sp>
      <p:sp>
        <p:nvSpPr>
          <p:cNvPr id="296" name="Google Shape;296;p7"/>
          <p:cNvSpPr txBox="1"/>
          <p:nvPr/>
        </p:nvSpPr>
        <p:spPr>
          <a:xfrm>
            <a:off x="3237341" y="2728560"/>
            <a:ext cx="2343300" cy="1626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64748B"/>
                </a:solidFill>
                <a:latin typeface="Lato"/>
                <a:ea typeface="Lato"/>
                <a:cs typeface="Lato"/>
                <a:sym typeface="Lato"/>
              </a:rPr>
              <a:t>Planificación Estructural</a:t>
            </a:r>
            <a:endParaRPr b="0" i="0" sz="1517" u="none" cap="none" strike="noStrike">
              <a:solidFill>
                <a:srgbClr val="000000"/>
              </a:solidFill>
              <a:latin typeface="Arial"/>
              <a:ea typeface="Arial"/>
              <a:cs typeface="Arial"/>
              <a:sym typeface="Arial"/>
            </a:endParaRPr>
          </a:p>
        </p:txBody>
      </p:sp>
      <p:sp>
        <p:nvSpPr>
          <p:cNvPr id="297" name="Google Shape;297;p7"/>
          <p:cNvSpPr/>
          <p:nvPr/>
        </p:nvSpPr>
        <p:spPr>
          <a:xfrm>
            <a:off x="3237341" y="3053723"/>
            <a:ext cx="2343300" cy="10200"/>
          </a:xfrm>
          <a:prstGeom prst="rect">
            <a:avLst/>
          </a:prstGeom>
          <a:solidFill>
            <a:srgbClr val="E2E8F0"/>
          </a:solidFill>
          <a:ln>
            <a:noFill/>
          </a:ln>
        </p:spPr>
        <p:txBody>
          <a:bodyPr anchorCtr="0" anchor="ctr" bIns="49525" lIns="99100" spcFirstLastPara="1" rIns="99100" wrap="square" tIns="49525">
            <a:noAutofit/>
          </a:bodyPr>
          <a:lstStyle/>
          <a:p>
            <a:pPr indent="0" lvl="0" marL="0" marR="0" rtl="0" algn="ctr">
              <a:lnSpc>
                <a:spcPct val="100000"/>
              </a:lnSpc>
              <a:spcBef>
                <a:spcPts val="0"/>
              </a:spcBef>
              <a:spcAft>
                <a:spcPts val="0"/>
              </a:spcAft>
              <a:buClr>
                <a:srgbClr val="000000"/>
              </a:buClr>
              <a:buSzPts val="1951"/>
              <a:buFont typeface="Arial"/>
              <a:buNone/>
            </a:pPr>
            <a:r>
              <a:t/>
            </a:r>
            <a:endParaRPr b="0" i="0" sz="1951" u="none" cap="none" strike="noStrike">
              <a:solidFill>
                <a:schemeClr val="dk1"/>
              </a:solidFill>
              <a:latin typeface="Calibri"/>
              <a:ea typeface="Calibri"/>
              <a:cs typeface="Calibri"/>
              <a:sym typeface="Calibri"/>
            </a:endParaRPr>
          </a:p>
        </p:txBody>
      </p:sp>
      <p:sp>
        <p:nvSpPr>
          <p:cNvPr id="298" name="Google Shape;298;p7"/>
          <p:cNvSpPr txBox="1"/>
          <p:nvPr/>
        </p:nvSpPr>
        <p:spPr>
          <a:xfrm>
            <a:off x="3237341" y="3187917"/>
            <a:ext cx="2343300" cy="4065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334155"/>
                </a:solidFill>
                <a:latin typeface="Lato"/>
                <a:ea typeface="Lato"/>
                <a:cs typeface="Lato"/>
                <a:sym typeface="Lato"/>
              </a:rPr>
              <a:t>Proyectos, Épicas, Sprints y Asignación de Recursos.</a:t>
            </a:r>
            <a:endParaRPr b="0" i="0" sz="1517" u="none" cap="none" strike="noStrike">
              <a:solidFill>
                <a:srgbClr val="000000"/>
              </a:solidFill>
              <a:latin typeface="Arial"/>
              <a:ea typeface="Arial"/>
              <a:cs typeface="Arial"/>
              <a:sym typeface="Arial"/>
            </a:endParaRPr>
          </a:p>
        </p:txBody>
      </p:sp>
      <p:pic>
        <p:nvPicPr>
          <p:cNvPr descr="image.png" id="299" name="Google Shape;299;p7"/>
          <p:cNvPicPr preferRelativeResize="0"/>
          <p:nvPr/>
        </p:nvPicPr>
        <p:blipFill rotWithShape="1">
          <a:blip r:embed="rId7">
            <a:alphaModFix/>
          </a:blip>
          <a:srcRect b="0" l="0" r="0" t="0"/>
          <a:stretch/>
        </p:blipFill>
        <p:spPr>
          <a:xfrm>
            <a:off x="7576584" y="1933716"/>
            <a:ext cx="412903" cy="330323"/>
          </a:xfrm>
          <a:prstGeom prst="rect">
            <a:avLst/>
          </a:prstGeom>
          <a:noFill/>
          <a:ln>
            <a:noFill/>
          </a:ln>
        </p:spPr>
      </p:pic>
      <p:sp>
        <p:nvSpPr>
          <p:cNvPr id="300" name="Google Shape;300;p7"/>
          <p:cNvSpPr txBox="1"/>
          <p:nvPr/>
        </p:nvSpPr>
        <p:spPr>
          <a:xfrm>
            <a:off x="6552842" y="2387913"/>
            <a:ext cx="24606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F172A"/>
                </a:solidFill>
                <a:latin typeface="Poppins"/>
                <a:ea typeface="Poppins"/>
                <a:cs typeface="Poppins"/>
                <a:sym typeface="Poppins"/>
              </a:rPr>
              <a:t>THE WORKBENCH</a:t>
            </a:r>
            <a:endParaRPr b="0" i="0" sz="1517" u="none" cap="none" strike="noStrike">
              <a:solidFill>
                <a:srgbClr val="000000"/>
              </a:solidFill>
              <a:latin typeface="Arial"/>
              <a:ea typeface="Arial"/>
              <a:cs typeface="Arial"/>
              <a:sym typeface="Arial"/>
            </a:endParaRPr>
          </a:p>
        </p:txBody>
      </p:sp>
      <p:sp>
        <p:nvSpPr>
          <p:cNvPr id="301" name="Google Shape;301;p7"/>
          <p:cNvSpPr txBox="1"/>
          <p:nvPr/>
        </p:nvSpPr>
        <p:spPr>
          <a:xfrm>
            <a:off x="6611423" y="2728560"/>
            <a:ext cx="2343300" cy="1626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64748B"/>
                </a:solidFill>
                <a:latin typeface="Lato"/>
                <a:ea typeface="Lato"/>
                <a:cs typeface="Lato"/>
                <a:sym typeface="Lato"/>
              </a:rPr>
              <a:t>Ejecución del Trabajo</a:t>
            </a:r>
            <a:endParaRPr b="0" i="0" sz="1517" u="none" cap="none" strike="noStrike">
              <a:solidFill>
                <a:srgbClr val="000000"/>
              </a:solidFill>
              <a:latin typeface="Arial"/>
              <a:ea typeface="Arial"/>
              <a:cs typeface="Arial"/>
              <a:sym typeface="Arial"/>
            </a:endParaRPr>
          </a:p>
        </p:txBody>
      </p:sp>
      <p:sp>
        <p:nvSpPr>
          <p:cNvPr id="302" name="Google Shape;302;p7"/>
          <p:cNvSpPr/>
          <p:nvPr/>
        </p:nvSpPr>
        <p:spPr>
          <a:xfrm>
            <a:off x="6611423" y="3053723"/>
            <a:ext cx="2343300" cy="10200"/>
          </a:xfrm>
          <a:prstGeom prst="rect">
            <a:avLst/>
          </a:prstGeom>
          <a:solidFill>
            <a:srgbClr val="E2E8F0"/>
          </a:solidFill>
          <a:ln>
            <a:noFill/>
          </a:ln>
        </p:spPr>
        <p:txBody>
          <a:bodyPr anchorCtr="0" anchor="ctr" bIns="49525" lIns="99100" spcFirstLastPara="1" rIns="99100" wrap="square" tIns="49525">
            <a:noAutofit/>
          </a:bodyPr>
          <a:lstStyle/>
          <a:p>
            <a:pPr indent="0" lvl="0" marL="0" marR="0" rtl="0" algn="ctr">
              <a:lnSpc>
                <a:spcPct val="100000"/>
              </a:lnSpc>
              <a:spcBef>
                <a:spcPts val="0"/>
              </a:spcBef>
              <a:spcAft>
                <a:spcPts val="0"/>
              </a:spcAft>
              <a:buClr>
                <a:srgbClr val="000000"/>
              </a:buClr>
              <a:buSzPts val="1951"/>
              <a:buFont typeface="Arial"/>
              <a:buNone/>
            </a:pPr>
            <a:r>
              <a:t/>
            </a:r>
            <a:endParaRPr b="0" i="0" sz="1951" u="none" cap="none" strike="noStrike">
              <a:solidFill>
                <a:schemeClr val="dk1"/>
              </a:solidFill>
              <a:latin typeface="Calibri"/>
              <a:ea typeface="Calibri"/>
              <a:cs typeface="Calibri"/>
              <a:sym typeface="Calibri"/>
            </a:endParaRPr>
          </a:p>
        </p:txBody>
      </p:sp>
      <p:sp>
        <p:nvSpPr>
          <p:cNvPr id="303" name="Google Shape;303;p7"/>
          <p:cNvSpPr txBox="1"/>
          <p:nvPr/>
        </p:nvSpPr>
        <p:spPr>
          <a:xfrm>
            <a:off x="6611423" y="3187917"/>
            <a:ext cx="2343300" cy="4065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334155"/>
                </a:solidFill>
                <a:latin typeface="Lato"/>
                <a:ea typeface="Lato"/>
                <a:cs typeface="Lato"/>
                <a:sym typeface="Lato"/>
              </a:rPr>
              <a:t>Kanban, Tickets, Subtareas, Timer y Preguntas.</a:t>
            </a:r>
            <a:endParaRPr b="0" i="0" sz="1517" u="none" cap="none" strike="noStrike">
              <a:solidFill>
                <a:srgbClr val="000000"/>
              </a:solidFill>
              <a:latin typeface="Arial"/>
              <a:ea typeface="Arial"/>
              <a:cs typeface="Arial"/>
              <a:sym typeface="Arial"/>
            </a:endParaRPr>
          </a:p>
        </p:txBody>
      </p:sp>
      <p:pic>
        <p:nvPicPr>
          <p:cNvPr descr="image.png" id="304" name="Google Shape;304;p7"/>
          <p:cNvPicPr preferRelativeResize="0"/>
          <p:nvPr/>
        </p:nvPicPr>
        <p:blipFill rotWithShape="1">
          <a:blip r:embed="rId8">
            <a:alphaModFix/>
          </a:blip>
          <a:srcRect b="0" l="0" r="0" t="0"/>
          <a:stretch/>
        </p:blipFill>
        <p:spPr>
          <a:xfrm>
            <a:off x="4243791" y="4350855"/>
            <a:ext cx="330323" cy="330323"/>
          </a:xfrm>
          <a:prstGeom prst="rect">
            <a:avLst/>
          </a:prstGeom>
          <a:noFill/>
          <a:ln>
            <a:noFill/>
          </a:ln>
        </p:spPr>
      </p:pic>
      <p:sp>
        <p:nvSpPr>
          <p:cNvPr id="305" name="Google Shape;305;p7"/>
          <p:cNvSpPr txBox="1"/>
          <p:nvPr/>
        </p:nvSpPr>
        <p:spPr>
          <a:xfrm>
            <a:off x="3178758" y="4805051"/>
            <a:ext cx="24606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F172A"/>
                </a:solidFill>
                <a:latin typeface="Poppins"/>
                <a:ea typeface="Poppins"/>
                <a:cs typeface="Poppins"/>
                <a:sym typeface="Poppins"/>
              </a:rPr>
              <a:t>ANALYTICS &amp; SLA</a:t>
            </a:r>
            <a:endParaRPr b="0" i="0" sz="1517" u="none" cap="none" strike="noStrike">
              <a:solidFill>
                <a:srgbClr val="000000"/>
              </a:solidFill>
              <a:latin typeface="Arial"/>
              <a:ea typeface="Arial"/>
              <a:cs typeface="Arial"/>
              <a:sym typeface="Arial"/>
            </a:endParaRPr>
          </a:p>
        </p:txBody>
      </p:sp>
      <p:sp>
        <p:nvSpPr>
          <p:cNvPr id="306" name="Google Shape;306;p7"/>
          <p:cNvSpPr txBox="1"/>
          <p:nvPr/>
        </p:nvSpPr>
        <p:spPr>
          <a:xfrm>
            <a:off x="3237340" y="5145698"/>
            <a:ext cx="2343300" cy="1626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64748B"/>
                </a:solidFill>
                <a:latin typeface="Lato"/>
                <a:ea typeface="Lato"/>
                <a:cs typeface="Lato"/>
                <a:sym typeface="Lato"/>
              </a:rPr>
              <a:t>Monitoreo &amp; Reportes</a:t>
            </a:r>
            <a:endParaRPr b="0" i="0" sz="1517" u="none" cap="none" strike="noStrike">
              <a:solidFill>
                <a:srgbClr val="000000"/>
              </a:solidFill>
              <a:latin typeface="Arial"/>
              <a:ea typeface="Arial"/>
              <a:cs typeface="Arial"/>
              <a:sym typeface="Arial"/>
            </a:endParaRPr>
          </a:p>
        </p:txBody>
      </p:sp>
      <p:sp>
        <p:nvSpPr>
          <p:cNvPr id="307" name="Google Shape;307;p7"/>
          <p:cNvSpPr/>
          <p:nvPr/>
        </p:nvSpPr>
        <p:spPr>
          <a:xfrm>
            <a:off x="3237340" y="5470861"/>
            <a:ext cx="2343300" cy="10200"/>
          </a:xfrm>
          <a:prstGeom prst="rect">
            <a:avLst/>
          </a:prstGeom>
          <a:solidFill>
            <a:srgbClr val="E2E8F0"/>
          </a:solidFill>
          <a:ln>
            <a:noFill/>
          </a:ln>
        </p:spPr>
        <p:txBody>
          <a:bodyPr anchorCtr="0" anchor="ctr" bIns="49525" lIns="99100" spcFirstLastPara="1" rIns="99100" wrap="square" tIns="49525">
            <a:noAutofit/>
          </a:bodyPr>
          <a:lstStyle/>
          <a:p>
            <a:pPr indent="0" lvl="0" marL="0" marR="0" rtl="0" algn="ctr">
              <a:lnSpc>
                <a:spcPct val="100000"/>
              </a:lnSpc>
              <a:spcBef>
                <a:spcPts val="0"/>
              </a:spcBef>
              <a:spcAft>
                <a:spcPts val="0"/>
              </a:spcAft>
              <a:buClr>
                <a:srgbClr val="000000"/>
              </a:buClr>
              <a:buSzPts val="1951"/>
              <a:buFont typeface="Arial"/>
              <a:buNone/>
            </a:pPr>
            <a:r>
              <a:t/>
            </a:r>
            <a:endParaRPr b="0" i="0" sz="1951" u="none" cap="none" strike="noStrike">
              <a:solidFill>
                <a:schemeClr val="dk1"/>
              </a:solidFill>
              <a:latin typeface="Calibri"/>
              <a:ea typeface="Calibri"/>
              <a:cs typeface="Calibri"/>
              <a:sym typeface="Calibri"/>
            </a:endParaRPr>
          </a:p>
        </p:txBody>
      </p:sp>
      <p:sp>
        <p:nvSpPr>
          <p:cNvPr id="308" name="Google Shape;308;p7"/>
          <p:cNvSpPr txBox="1"/>
          <p:nvPr/>
        </p:nvSpPr>
        <p:spPr>
          <a:xfrm>
            <a:off x="3237340" y="5605055"/>
            <a:ext cx="2343300" cy="4065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334155"/>
                </a:solidFill>
                <a:latin typeface="Lato"/>
                <a:ea typeface="Lato"/>
                <a:cs typeface="Lato"/>
                <a:sym typeface="Lato"/>
              </a:rPr>
              <a:t>Tiempos, SLA, Velocidad y Exportables PDF/Excel.</a:t>
            </a:r>
            <a:endParaRPr b="0" i="0" sz="1517" u="none" cap="none" strike="noStrike">
              <a:solidFill>
                <a:srgbClr val="000000"/>
              </a:solidFill>
              <a:latin typeface="Arial"/>
              <a:ea typeface="Arial"/>
              <a:cs typeface="Arial"/>
              <a:sym typeface="Arial"/>
            </a:endParaRPr>
          </a:p>
        </p:txBody>
      </p:sp>
      <p:pic>
        <p:nvPicPr>
          <p:cNvPr descr="image.png" id="309" name="Google Shape;309;p7"/>
          <p:cNvPicPr preferRelativeResize="0"/>
          <p:nvPr/>
        </p:nvPicPr>
        <p:blipFill rotWithShape="1">
          <a:blip r:embed="rId9">
            <a:alphaModFix/>
          </a:blip>
          <a:srcRect b="0" l="0" r="0" t="0"/>
          <a:stretch/>
        </p:blipFill>
        <p:spPr>
          <a:xfrm>
            <a:off x="7617886" y="4355956"/>
            <a:ext cx="330323" cy="330323"/>
          </a:xfrm>
          <a:prstGeom prst="rect">
            <a:avLst/>
          </a:prstGeom>
          <a:noFill/>
          <a:ln>
            <a:noFill/>
          </a:ln>
        </p:spPr>
      </p:pic>
      <p:sp>
        <p:nvSpPr>
          <p:cNvPr id="310" name="Google Shape;310;p7"/>
          <p:cNvSpPr txBox="1"/>
          <p:nvPr/>
        </p:nvSpPr>
        <p:spPr>
          <a:xfrm>
            <a:off x="6552853" y="4810152"/>
            <a:ext cx="24606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F172A"/>
                </a:solidFill>
                <a:latin typeface="Poppins"/>
                <a:ea typeface="Poppins"/>
                <a:cs typeface="Poppins"/>
                <a:sym typeface="Poppins"/>
              </a:rPr>
              <a:t>EXPERIENCIA UX</a:t>
            </a:r>
            <a:endParaRPr b="0" i="0" sz="1517" u="none" cap="none" strike="noStrike">
              <a:solidFill>
                <a:srgbClr val="000000"/>
              </a:solidFill>
              <a:latin typeface="Arial"/>
              <a:ea typeface="Arial"/>
              <a:cs typeface="Arial"/>
              <a:sym typeface="Arial"/>
            </a:endParaRPr>
          </a:p>
        </p:txBody>
      </p:sp>
      <p:sp>
        <p:nvSpPr>
          <p:cNvPr id="311" name="Google Shape;311;p7"/>
          <p:cNvSpPr txBox="1"/>
          <p:nvPr/>
        </p:nvSpPr>
        <p:spPr>
          <a:xfrm>
            <a:off x="6611434" y="5150800"/>
            <a:ext cx="2343300" cy="1626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64748B"/>
                </a:solidFill>
                <a:latin typeface="Lato"/>
                <a:ea typeface="Lato"/>
                <a:cs typeface="Lato"/>
                <a:sym typeface="Lato"/>
              </a:rPr>
              <a:t>Transversal</a:t>
            </a:r>
            <a:endParaRPr b="0" i="0" sz="1517" u="none" cap="none" strike="noStrike">
              <a:solidFill>
                <a:srgbClr val="000000"/>
              </a:solidFill>
              <a:latin typeface="Arial"/>
              <a:ea typeface="Arial"/>
              <a:cs typeface="Arial"/>
              <a:sym typeface="Arial"/>
            </a:endParaRPr>
          </a:p>
        </p:txBody>
      </p:sp>
      <p:sp>
        <p:nvSpPr>
          <p:cNvPr id="312" name="Google Shape;312;p7"/>
          <p:cNvSpPr/>
          <p:nvPr/>
        </p:nvSpPr>
        <p:spPr>
          <a:xfrm>
            <a:off x="6611434" y="5475962"/>
            <a:ext cx="2343300" cy="10200"/>
          </a:xfrm>
          <a:prstGeom prst="rect">
            <a:avLst/>
          </a:prstGeom>
          <a:solidFill>
            <a:srgbClr val="E2E8F0"/>
          </a:solidFill>
          <a:ln>
            <a:noFill/>
          </a:ln>
        </p:spPr>
        <p:txBody>
          <a:bodyPr anchorCtr="0" anchor="ctr" bIns="49525" lIns="99100" spcFirstLastPara="1" rIns="99100" wrap="square" tIns="49525">
            <a:noAutofit/>
          </a:bodyPr>
          <a:lstStyle/>
          <a:p>
            <a:pPr indent="0" lvl="0" marL="0" marR="0" rtl="0" algn="ctr">
              <a:lnSpc>
                <a:spcPct val="100000"/>
              </a:lnSpc>
              <a:spcBef>
                <a:spcPts val="0"/>
              </a:spcBef>
              <a:spcAft>
                <a:spcPts val="0"/>
              </a:spcAft>
              <a:buClr>
                <a:srgbClr val="000000"/>
              </a:buClr>
              <a:buSzPts val="1951"/>
              <a:buFont typeface="Arial"/>
              <a:buNone/>
            </a:pPr>
            <a:r>
              <a:t/>
            </a:r>
            <a:endParaRPr b="0" i="0" sz="1951" u="none" cap="none" strike="noStrike">
              <a:solidFill>
                <a:schemeClr val="dk1"/>
              </a:solidFill>
              <a:latin typeface="Calibri"/>
              <a:ea typeface="Calibri"/>
              <a:cs typeface="Calibri"/>
              <a:sym typeface="Calibri"/>
            </a:endParaRPr>
          </a:p>
        </p:txBody>
      </p:sp>
      <p:sp>
        <p:nvSpPr>
          <p:cNvPr id="313" name="Google Shape;313;p7"/>
          <p:cNvSpPr txBox="1"/>
          <p:nvPr/>
        </p:nvSpPr>
        <p:spPr>
          <a:xfrm>
            <a:off x="6611434" y="5610157"/>
            <a:ext cx="2343300" cy="406500"/>
          </a:xfrm>
          <a:prstGeom prst="rect">
            <a:avLst/>
          </a:prstGeom>
          <a:noFill/>
          <a:ln>
            <a:noFill/>
          </a:ln>
        </p:spPr>
        <p:txBody>
          <a:bodyPr anchorCtr="0" anchor="t" bIns="0" lIns="0" spcFirstLastPara="1" rIns="0" wrap="square" tIns="0">
            <a:spAutoFit/>
          </a:bodyPr>
          <a:lstStyle/>
          <a:p>
            <a:pPr indent="0" lvl="0" marL="0" marR="0" rtl="0" algn="ctr">
              <a:lnSpc>
                <a:spcPct val="149948"/>
              </a:lnSpc>
              <a:spcBef>
                <a:spcPts val="0"/>
              </a:spcBef>
              <a:spcAft>
                <a:spcPts val="0"/>
              </a:spcAft>
              <a:buClr>
                <a:srgbClr val="000000"/>
              </a:buClr>
              <a:buSzPts val="1057"/>
              <a:buFont typeface="Arial"/>
              <a:buNone/>
            </a:pPr>
            <a:r>
              <a:rPr b="0" i="0" lang="en-US" sz="1057" u="none" cap="none" strike="noStrike">
                <a:solidFill>
                  <a:srgbClr val="334155"/>
                </a:solidFill>
                <a:latin typeface="Lato"/>
                <a:ea typeface="Lato"/>
                <a:cs typeface="Lato"/>
                <a:sym typeface="Lato"/>
              </a:rPr>
              <a:t>i18n, Modo Claro/Oscuro y Buscador Global.</a:t>
            </a:r>
            <a:endParaRPr b="0" i="0" sz="1517"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pic>
        <p:nvPicPr>
          <p:cNvPr descr="image.png" id="318" name="Google Shape;318;p8"/>
          <p:cNvPicPr preferRelativeResize="0"/>
          <p:nvPr/>
        </p:nvPicPr>
        <p:blipFill rotWithShape="1">
          <a:blip r:embed="rId3">
            <a:alphaModFix/>
          </a:blip>
          <a:srcRect b="0" l="0" r="0" t="0"/>
          <a:stretch/>
        </p:blipFill>
        <p:spPr>
          <a:xfrm>
            <a:off x="533400" y="1318050"/>
            <a:ext cx="11077650" cy="5143150"/>
          </a:xfrm>
          <a:prstGeom prst="rect">
            <a:avLst/>
          </a:prstGeom>
          <a:noFill/>
          <a:ln>
            <a:noFill/>
          </a:ln>
        </p:spPr>
      </p:pic>
      <p:sp>
        <p:nvSpPr>
          <p:cNvPr id="319" name="Google Shape;319;p8"/>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Estructura Modular de CoreStream Web</a:t>
            </a:r>
            <a:endParaRPr b="0" i="0" sz="1400" u="none" cap="none" strike="noStrike">
              <a:solidFill>
                <a:srgbClr val="000000"/>
              </a:solidFill>
              <a:latin typeface="Arial"/>
              <a:ea typeface="Arial"/>
              <a:cs typeface="Arial"/>
              <a:sym typeface="Arial"/>
            </a:endParaRPr>
          </a:p>
        </p:txBody>
      </p:sp>
      <p:sp>
        <p:nvSpPr>
          <p:cNvPr id="320" name="Google Shape;320;p8"/>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8"/>
          <p:cNvSpPr txBox="1"/>
          <p:nvPr/>
        </p:nvSpPr>
        <p:spPr>
          <a:xfrm>
            <a:off x="4960795" y="1404531"/>
            <a:ext cx="22704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F172A"/>
                </a:solidFill>
                <a:latin typeface="Poppins"/>
                <a:ea typeface="Poppins"/>
                <a:cs typeface="Poppins"/>
                <a:sym typeface="Poppins"/>
              </a:rPr>
              <a:t>THE BUILDER</a:t>
            </a:r>
            <a:endParaRPr b="0" i="0" sz="1400" u="none" cap="none" strike="noStrike">
              <a:solidFill>
                <a:srgbClr val="000000"/>
              </a:solidFill>
              <a:latin typeface="Arial"/>
              <a:ea typeface="Arial"/>
              <a:cs typeface="Arial"/>
              <a:sym typeface="Arial"/>
            </a:endParaRPr>
          </a:p>
        </p:txBody>
      </p:sp>
      <p:pic>
        <p:nvPicPr>
          <p:cNvPr id="322" name="Google Shape;322;p8" title="Admin1.png"/>
          <p:cNvPicPr preferRelativeResize="0"/>
          <p:nvPr/>
        </p:nvPicPr>
        <p:blipFill rotWithShape="1">
          <a:blip r:embed="rId4">
            <a:alphaModFix/>
          </a:blip>
          <a:srcRect b="0" l="0" r="0" t="0"/>
          <a:stretch/>
        </p:blipFill>
        <p:spPr>
          <a:xfrm>
            <a:off x="1191438" y="1879426"/>
            <a:ext cx="9809132" cy="4081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pic>
        <p:nvPicPr>
          <p:cNvPr descr="image.png" id="327" name="Google Shape;327;p9"/>
          <p:cNvPicPr preferRelativeResize="0"/>
          <p:nvPr/>
        </p:nvPicPr>
        <p:blipFill rotWithShape="1">
          <a:blip r:embed="rId3">
            <a:alphaModFix/>
          </a:blip>
          <a:srcRect b="0" l="0" r="0" t="0"/>
          <a:stretch/>
        </p:blipFill>
        <p:spPr>
          <a:xfrm>
            <a:off x="533400" y="1318050"/>
            <a:ext cx="11077650" cy="5143150"/>
          </a:xfrm>
          <a:prstGeom prst="rect">
            <a:avLst/>
          </a:prstGeom>
          <a:noFill/>
          <a:ln>
            <a:noFill/>
          </a:ln>
        </p:spPr>
      </p:pic>
      <p:sp>
        <p:nvSpPr>
          <p:cNvPr id="328" name="Google Shape;328;p9"/>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Estructura Modular de CoreStream Web</a:t>
            </a:r>
            <a:endParaRPr b="0" i="0" sz="1400" u="none" cap="none" strike="noStrike">
              <a:solidFill>
                <a:srgbClr val="000000"/>
              </a:solidFill>
              <a:latin typeface="Arial"/>
              <a:ea typeface="Arial"/>
              <a:cs typeface="Arial"/>
              <a:sym typeface="Arial"/>
            </a:endParaRPr>
          </a:p>
        </p:txBody>
      </p:sp>
      <p:sp>
        <p:nvSpPr>
          <p:cNvPr id="329" name="Google Shape;329;p9"/>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p9"/>
          <p:cNvSpPr txBox="1"/>
          <p:nvPr/>
        </p:nvSpPr>
        <p:spPr>
          <a:xfrm>
            <a:off x="4960795" y="1404531"/>
            <a:ext cx="22704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z="1200" u="none" cap="none" strike="noStrike">
                <a:solidFill>
                  <a:srgbClr val="0F172A"/>
                </a:solidFill>
                <a:latin typeface="Poppins"/>
                <a:ea typeface="Poppins"/>
                <a:cs typeface="Poppins"/>
                <a:sym typeface="Poppins"/>
              </a:rPr>
              <a:t>THE WORKBENCH</a:t>
            </a:r>
            <a:endParaRPr b="1" i="0" sz="1200" u="none" cap="none" strike="noStrike">
              <a:solidFill>
                <a:srgbClr val="0F172A"/>
              </a:solidFill>
              <a:latin typeface="Poppins"/>
              <a:ea typeface="Poppins"/>
              <a:cs typeface="Poppins"/>
              <a:sym typeface="Poppins"/>
            </a:endParaRPr>
          </a:p>
        </p:txBody>
      </p:sp>
      <p:pic>
        <p:nvPicPr>
          <p:cNvPr id="331" name="Google Shape;331;p9" title="Dve.png"/>
          <p:cNvPicPr preferRelativeResize="0"/>
          <p:nvPr/>
        </p:nvPicPr>
        <p:blipFill rotWithShape="1">
          <a:blip r:embed="rId4">
            <a:alphaModFix/>
          </a:blip>
          <a:srcRect b="0" l="0" r="0" t="0"/>
          <a:stretch/>
        </p:blipFill>
        <p:spPr>
          <a:xfrm>
            <a:off x="1412850" y="1688650"/>
            <a:ext cx="9318748" cy="46423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pic>
        <p:nvPicPr>
          <p:cNvPr descr="image.png" id="336" name="Google Shape;336;p10"/>
          <p:cNvPicPr preferRelativeResize="0"/>
          <p:nvPr/>
        </p:nvPicPr>
        <p:blipFill rotWithShape="1">
          <a:blip r:embed="rId3">
            <a:alphaModFix/>
          </a:blip>
          <a:srcRect b="0" l="0" r="0" t="0"/>
          <a:stretch/>
        </p:blipFill>
        <p:spPr>
          <a:xfrm>
            <a:off x="8115925" y="2104025"/>
            <a:ext cx="2851500" cy="3347850"/>
          </a:xfrm>
          <a:prstGeom prst="rect">
            <a:avLst/>
          </a:prstGeom>
          <a:noFill/>
          <a:ln>
            <a:noFill/>
          </a:ln>
        </p:spPr>
      </p:pic>
      <p:pic>
        <p:nvPicPr>
          <p:cNvPr descr="image.png" id="337" name="Google Shape;337;p10"/>
          <p:cNvPicPr preferRelativeResize="0"/>
          <p:nvPr/>
        </p:nvPicPr>
        <p:blipFill rotWithShape="1">
          <a:blip r:embed="rId3">
            <a:alphaModFix/>
          </a:blip>
          <a:srcRect b="0" l="0" r="0" t="0"/>
          <a:stretch/>
        </p:blipFill>
        <p:spPr>
          <a:xfrm>
            <a:off x="4470300" y="2104025"/>
            <a:ext cx="2851500" cy="3160675"/>
          </a:xfrm>
          <a:prstGeom prst="rect">
            <a:avLst/>
          </a:prstGeom>
          <a:noFill/>
          <a:ln>
            <a:noFill/>
          </a:ln>
        </p:spPr>
      </p:pic>
      <p:pic>
        <p:nvPicPr>
          <p:cNvPr descr="image.png" id="338" name="Google Shape;338;p10"/>
          <p:cNvPicPr preferRelativeResize="0"/>
          <p:nvPr/>
        </p:nvPicPr>
        <p:blipFill rotWithShape="1">
          <a:blip r:embed="rId3">
            <a:alphaModFix/>
          </a:blip>
          <a:srcRect b="0" l="0" r="0" t="0"/>
          <a:stretch/>
        </p:blipFill>
        <p:spPr>
          <a:xfrm>
            <a:off x="864050" y="2104025"/>
            <a:ext cx="2851500" cy="4158350"/>
          </a:xfrm>
          <a:prstGeom prst="rect">
            <a:avLst/>
          </a:prstGeom>
          <a:noFill/>
          <a:ln>
            <a:noFill/>
          </a:ln>
        </p:spPr>
      </p:pic>
      <p:sp>
        <p:nvSpPr>
          <p:cNvPr id="339" name="Google Shape;339;p10"/>
          <p:cNvSpPr txBox="1"/>
          <p:nvPr/>
        </p:nvSpPr>
        <p:spPr>
          <a:xfrm>
            <a:off x="533400" y="457200"/>
            <a:ext cx="11658600" cy="5619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Control de Acceso Basado en Roles (RBAC)</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10"/>
          <p:cNvSpPr txBox="1"/>
          <p:nvPr/>
        </p:nvSpPr>
        <p:spPr>
          <a:xfrm>
            <a:off x="615550" y="1246925"/>
            <a:ext cx="10930200" cy="85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88"/>
              <a:buFont typeface="Arial"/>
              <a:buNone/>
            </a:pPr>
            <a:r>
              <a:rPr b="0" i="0" lang="en-US" u="none" cap="none" strike="noStrike">
                <a:solidFill>
                  <a:srgbClr val="000000"/>
                </a:solidFill>
                <a:latin typeface="Lato"/>
                <a:ea typeface="Lato"/>
                <a:cs typeface="Lato"/>
                <a:sym typeface="Lato"/>
              </a:rPr>
              <a:t>CoreStream utiliza un modelo </a:t>
            </a:r>
            <a:r>
              <a:rPr b="1" i="0" lang="en-US" u="none" cap="none" strike="noStrike">
                <a:solidFill>
                  <a:srgbClr val="000000"/>
                </a:solidFill>
                <a:latin typeface="Lato"/>
                <a:ea typeface="Lato"/>
                <a:cs typeface="Lato"/>
                <a:sym typeface="Lato"/>
              </a:rPr>
              <a:t>RBAC</a:t>
            </a:r>
            <a:r>
              <a:rPr b="0" i="0" lang="en-US" u="none" cap="none" strike="noStrike">
                <a:solidFill>
                  <a:srgbClr val="000000"/>
                </a:solidFill>
                <a:latin typeface="Lato"/>
                <a:ea typeface="Lato"/>
                <a:cs typeface="Lato"/>
                <a:sym typeface="Lato"/>
              </a:rPr>
              <a:t>, en donde cada usuario puede acceder únicamente a las funcionalidades correspondientes a su responsabilidad dentro del proyecto, permitiendo separar las tareas de administración, coordinación y ejecución.</a:t>
            </a:r>
            <a:endParaRPr b="0" i="0" u="none" cap="none" strike="noStrike">
              <a:solidFill>
                <a:srgbClr val="000000"/>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1088"/>
              <a:buFont typeface="Arial"/>
              <a:buNone/>
            </a:pPr>
            <a:r>
              <a:t/>
            </a:r>
            <a:endParaRPr b="0" i="0" sz="1088" u="none" cap="none" strike="noStrike">
              <a:solidFill>
                <a:srgbClr val="000000"/>
              </a:solidFill>
              <a:latin typeface="Lato"/>
              <a:ea typeface="Lato"/>
              <a:cs typeface="Lato"/>
              <a:sym typeface="Lato"/>
            </a:endParaRPr>
          </a:p>
        </p:txBody>
      </p:sp>
      <p:sp>
        <p:nvSpPr>
          <p:cNvPr id="342" name="Google Shape;342;p10"/>
          <p:cNvSpPr txBox="1"/>
          <p:nvPr/>
        </p:nvSpPr>
        <p:spPr>
          <a:xfrm>
            <a:off x="941450" y="2104025"/>
            <a:ext cx="2759400" cy="2877300"/>
          </a:xfrm>
          <a:prstGeom prst="rect">
            <a:avLst/>
          </a:prstGeom>
          <a:noFill/>
          <a:ln>
            <a:noFill/>
          </a:ln>
        </p:spPr>
        <p:txBody>
          <a:bodyPr anchorCtr="0" anchor="t" bIns="115250" lIns="115250" spcFirstLastPara="1" rIns="115250" wrap="square" tIns="115250">
            <a:noAutofit/>
          </a:bodyPr>
          <a:lstStyle/>
          <a:p>
            <a:pPr indent="0" lvl="0" marL="0" marR="0" rtl="0" algn="l">
              <a:lnSpc>
                <a:spcPct val="100000"/>
              </a:lnSpc>
              <a:spcBef>
                <a:spcPts val="2269"/>
              </a:spcBef>
              <a:spcAft>
                <a:spcPts val="0"/>
              </a:spcAft>
              <a:buClr>
                <a:srgbClr val="000000"/>
              </a:buClr>
              <a:buSzPts val="1387"/>
              <a:buFont typeface="Arial"/>
              <a:buNone/>
            </a:pPr>
            <a:r>
              <a:rPr b="1" i="0" lang="en-US" sz="1639" u="none" cap="none" strike="noStrike">
                <a:solidFill>
                  <a:srgbClr val="000000"/>
                </a:solidFill>
                <a:latin typeface="Lato"/>
                <a:ea typeface="Lato"/>
                <a:cs typeface="Lato"/>
                <a:sym typeface="Lato"/>
              </a:rPr>
              <a:t>ADMIN</a:t>
            </a:r>
            <a:endParaRPr b="1" i="0" sz="1639" u="none" cap="none" strike="noStrike">
              <a:solidFill>
                <a:srgbClr val="000000"/>
              </a:solidFill>
              <a:latin typeface="Lato"/>
              <a:ea typeface="Lato"/>
              <a:cs typeface="Lato"/>
              <a:sym typeface="Lato"/>
            </a:endParaRPr>
          </a:p>
          <a:p>
            <a:pPr indent="0" lvl="0" marL="0" marR="0" rtl="0" algn="l">
              <a:lnSpc>
                <a:spcPct val="100000"/>
              </a:lnSpc>
              <a:spcBef>
                <a:spcPts val="1765"/>
              </a:spcBef>
              <a:spcAft>
                <a:spcPts val="0"/>
              </a:spcAft>
              <a:buClr>
                <a:srgbClr val="000000"/>
              </a:buClr>
              <a:buSzPts val="1387"/>
              <a:buFont typeface="Arial"/>
              <a:buNone/>
            </a:pPr>
            <a:r>
              <a:rPr b="1" i="0" lang="en-US" sz="1334" u="none" cap="none" strike="noStrike">
                <a:solidFill>
                  <a:srgbClr val="000000"/>
                </a:solidFill>
                <a:latin typeface="Lato"/>
                <a:ea typeface="Lato"/>
                <a:cs typeface="Lato"/>
                <a:sym typeface="Lato"/>
              </a:rPr>
              <a:t>Administración y visión global</a:t>
            </a:r>
            <a:endParaRPr b="1" i="0" sz="1334" u="none" cap="none" strike="noStrike">
              <a:solidFill>
                <a:srgbClr val="000000"/>
              </a:solidFill>
              <a:latin typeface="Lato"/>
              <a:ea typeface="Lato"/>
              <a:cs typeface="Lato"/>
              <a:sym typeface="Lato"/>
            </a:endParaRPr>
          </a:p>
          <a:p>
            <a:pPr indent="0" lvl="0" marL="0" marR="0" rtl="0" algn="l">
              <a:lnSpc>
                <a:spcPct val="100000"/>
              </a:lnSpc>
              <a:spcBef>
                <a:spcPts val="1513"/>
              </a:spcBef>
              <a:spcAft>
                <a:spcPts val="0"/>
              </a:spcAft>
              <a:buClr>
                <a:srgbClr val="000000"/>
              </a:buClr>
              <a:buSzPts val="1387"/>
              <a:buFont typeface="Arial"/>
              <a:buNone/>
            </a:pPr>
            <a:r>
              <a:rPr b="0" i="0" lang="en-US" sz="1200" u="none" cap="none" strike="noStrike">
                <a:solidFill>
                  <a:srgbClr val="000000"/>
                </a:solidFill>
                <a:latin typeface="Lato"/>
                <a:ea typeface="Lato"/>
                <a:cs typeface="Lato"/>
                <a:sym typeface="Lato"/>
              </a:rPr>
              <a:t>Tiene acceso a:</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1513"/>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Gestión de usuarios.</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Gestión de aplicaciones.</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Creación y administración de Epics.</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Creación y asignación de Tickets.</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Gestión del equipo.</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Builder / Project Canvas.</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Analytics global.</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Configuración del sistema.</a:t>
            </a:r>
            <a:endParaRPr b="0" i="0" sz="1200" u="none" cap="none" strike="noStrike">
              <a:solidFill>
                <a:srgbClr val="000000"/>
              </a:solidFill>
              <a:latin typeface="Lato"/>
              <a:ea typeface="Lato"/>
              <a:cs typeface="Lato"/>
              <a:sym typeface="Lato"/>
            </a:endParaRPr>
          </a:p>
          <a:p>
            <a:pPr indent="-364381"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Seguimiento de carga de trabajo.</a:t>
            </a:r>
            <a:endParaRPr b="0" i="0" sz="1200" u="none" cap="none" strike="noStrike">
              <a:solidFill>
                <a:srgbClr val="595959"/>
              </a:solidFill>
              <a:latin typeface="Lato"/>
              <a:ea typeface="Lato"/>
              <a:cs typeface="Lato"/>
              <a:sym typeface="Lato"/>
            </a:endParaRPr>
          </a:p>
        </p:txBody>
      </p:sp>
      <p:sp>
        <p:nvSpPr>
          <p:cNvPr id="343" name="Google Shape;343;p10"/>
          <p:cNvSpPr txBox="1"/>
          <p:nvPr/>
        </p:nvSpPr>
        <p:spPr>
          <a:xfrm>
            <a:off x="4562500" y="2104025"/>
            <a:ext cx="2759400" cy="2932500"/>
          </a:xfrm>
          <a:prstGeom prst="rect">
            <a:avLst/>
          </a:prstGeom>
          <a:noFill/>
          <a:ln>
            <a:noFill/>
          </a:ln>
        </p:spPr>
        <p:txBody>
          <a:bodyPr anchorCtr="0" anchor="t" bIns="115250" lIns="115250" spcFirstLastPara="1" rIns="115250" wrap="square" tIns="115250">
            <a:noAutofit/>
          </a:bodyPr>
          <a:lstStyle/>
          <a:p>
            <a:pPr indent="0" lvl="0" marL="0" marR="0" rtl="0" algn="l">
              <a:lnSpc>
                <a:spcPct val="100000"/>
              </a:lnSpc>
              <a:spcBef>
                <a:spcPts val="2269"/>
              </a:spcBef>
              <a:spcAft>
                <a:spcPts val="0"/>
              </a:spcAft>
              <a:buClr>
                <a:srgbClr val="000000"/>
              </a:buClr>
              <a:buSzPts val="1387"/>
              <a:buFont typeface="Arial"/>
              <a:buNone/>
            </a:pPr>
            <a:r>
              <a:rPr b="1" i="0" lang="en-US" sz="1765" u="none" cap="none" strike="noStrike">
                <a:solidFill>
                  <a:srgbClr val="000000"/>
                </a:solidFill>
                <a:latin typeface="Lato"/>
                <a:ea typeface="Lato"/>
                <a:cs typeface="Lato"/>
                <a:sym typeface="Lato"/>
              </a:rPr>
              <a:t>TEAM LEADER</a:t>
            </a:r>
            <a:endParaRPr b="1" i="0" sz="1765" u="none" cap="none" strike="noStrike">
              <a:solidFill>
                <a:srgbClr val="000000"/>
              </a:solidFill>
              <a:latin typeface="Lato"/>
              <a:ea typeface="Lato"/>
              <a:cs typeface="Lato"/>
              <a:sym typeface="Lato"/>
            </a:endParaRPr>
          </a:p>
          <a:p>
            <a:pPr indent="0" lvl="0" marL="0" marR="0" rtl="0" algn="l">
              <a:lnSpc>
                <a:spcPct val="100000"/>
              </a:lnSpc>
              <a:spcBef>
                <a:spcPts val="1765"/>
              </a:spcBef>
              <a:spcAft>
                <a:spcPts val="0"/>
              </a:spcAft>
              <a:buClr>
                <a:srgbClr val="000000"/>
              </a:buClr>
              <a:buSzPts val="1387"/>
              <a:buFont typeface="Arial"/>
              <a:buNone/>
            </a:pPr>
            <a:r>
              <a:rPr b="1" i="0" lang="en-US" sz="1300" u="none" cap="none" strike="noStrike">
                <a:solidFill>
                  <a:srgbClr val="000000"/>
                </a:solidFill>
                <a:latin typeface="Lato"/>
                <a:ea typeface="Lato"/>
                <a:cs typeface="Lato"/>
                <a:sym typeface="Lato"/>
              </a:rPr>
              <a:t>Coordinación del equipo</a:t>
            </a:r>
            <a:endParaRPr b="1" i="0" sz="1300" u="none" cap="none" strike="noStrike">
              <a:solidFill>
                <a:srgbClr val="000000"/>
              </a:solidFill>
              <a:latin typeface="Lato"/>
              <a:ea typeface="Lato"/>
              <a:cs typeface="Lato"/>
              <a:sym typeface="Lato"/>
            </a:endParaRPr>
          </a:p>
          <a:p>
            <a:pPr indent="0" lvl="0" marL="0" marR="0" rtl="0" algn="l">
              <a:lnSpc>
                <a:spcPct val="100000"/>
              </a:lnSpc>
              <a:spcBef>
                <a:spcPts val="1513"/>
              </a:spcBef>
              <a:spcAft>
                <a:spcPts val="0"/>
              </a:spcAft>
              <a:buClr>
                <a:srgbClr val="000000"/>
              </a:buClr>
              <a:buSzPts val="1387"/>
              <a:buFont typeface="Arial"/>
              <a:buNone/>
            </a:pPr>
            <a:r>
              <a:rPr b="0" i="0" lang="en-US" sz="1200" u="none" cap="none" strike="noStrike">
                <a:solidFill>
                  <a:srgbClr val="000000"/>
                </a:solidFill>
                <a:latin typeface="Lato"/>
                <a:ea typeface="Lato"/>
                <a:cs typeface="Lato"/>
                <a:sym typeface="Lato"/>
              </a:rPr>
              <a:t>Tiene acceso a:</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1513"/>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Aplicaciones asignadas.</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Epics del equipo.</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Tickets.</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Asignaciones.</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Seguimiento del progreso.</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Gestión de bloqueos.</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Analytics del equipo.</a:t>
            </a:r>
            <a:endParaRPr b="0" i="0" sz="1200" u="none" cap="none" strike="noStrike">
              <a:solidFill>
                <a:srgbClr val="000000"/>
              </a:solidFill>
              <a:latin typeface="Lato"/>
              <a:ea typeface="Lato"/>
              <a:cs typeface="Lato"/>
              <a:sym typeface="Lato"/>
            </a:endParaRPr>
          </a:p>
          <a:p>
            <a:pPr indent="-364385" lvl="0" marL="576316" marR="0" rtl="0" algn="l">
              <a:lnSpc>
                <a:spcPct val="115000"/>
              </a:lnSpc>
              <a:spcBef>
                <a:spcPts val="0"/>
              </a:spcBef>
              <a:spcAft>
                <a:spcPts val="0"/>
              </a:spcAft>
              <a:buClr>
                <a:srgbClr val="000000"/>
              </a:buClr>
              <a:buSzPts val="1200"/>
              <a:buFont typeface="Lato"/>
              <a:buChar char="●"/>
            </a:pPr>
            <a:r>
              <a:rPr b="0" i="0" lang="en-US" sz="1200" u="none" cap="none" strike="noStrike">
                <a:solidFill>
                  <a:srgbClr val="000000"/>
                </a:solidFill>
                <a:latin typeface="Lato"/>
                <a:ea typeface="Lato"/>
                <a:cs typeface="Lato"/>
                <a:sym typeface="Lato"/>
              </a:rPr>
              <a:t>Redirección de trabajo.</a:t>
            </a:r>
            <a:endParaRPr b="1" i="0" sz="1200" u="none" cap="none" strike="noStrike">
              <a:solidFill>
                <a:srgbClr val="000000"/>
              </a:solidFill>
              <a:latin typeface="Lato"/>
              <a:ea typeface="Lato"/>
              <a:cs typeface="Lato"/>
              <a:sym typeface="Lato"/>
            </a:endParaRPr>
          </a:p>
        </p:txBody>
      </p:sp>
      <p:sp>
        <p:nvSpPr>
          <p:cNvPr id="344" name="Google Shape;344;p10"/>
          <p:cNvSpPr txBox="1"/>
          <p:nvPr/>
        </p:nvSpPr>
        <p:spPr>
          <a:xfrm>
            <a:off x="8178874" y="2136825"/>
            <a:ext cx="2759400" cy="3211800"/>
          </a:xfrm>
          <a:prstGeom prst="rect">
            <a:avLst/>
          </a:prstGeom>
          <a:noFill/>
          <a:ln>
            <a:noFill/>
          </a:ln>
        </p:spPr>
        <p:txBody>
          <a:bodyPr anchorCtr="0" anchor="t" bIns="115250" lIns="115250" spcFirstLastPara="1" rIns="115250" wrap="square" tIns="115250">
            <a:noAutofit/>
          </a:bodyPr>
          <a:lstStyle/>
          <a:p>
            <a:pPr indent="0" lvl="0" marL="0" marR="0" rtl="0" algn="l">
              <a:lnSpc>
                <a:spcPct val="100000"/>
              </a:lnSpc>
              <a:spcBef>
                <a:spcPts val="2269"/>
              </a:spcBef>
              <a:spcAft>
                <a:spcPts val="0"/>
              </a:spcAft>
              <a:buClr>
                <a:srgbClr val="000000"/>
              </a:buClr>
              <a:buSzPts val="1387"/>
              <a:buFont typeface="Arial"/>
              <a:buNone/>
            </a:pPr>
            <a:r>
              <a:rPr b="1" i="0" lang="en-US" sz="1765" u="none" cap="none" strike="noStrike">
                <a:solidFill>
                  <a:srgbClr val="000000"/>
                </a:solidFill>
                <a:latin typeface="Lato"/>
                <a:ea typeface="Lato"/>
                <a:cs typeface="Lato"/>
                <a:sym typeface="Lato"/>
              </a:rPr>
              <a:t>DEVELOPER</a:t>
            </a:r>
            <a:endParaRPr b="1" i="0" sz="1765" u="none" cap="none" strike="noStrike">
              <a:solidFill>
                <a:srgbClr val="000000"/>
              </a:solidFill>
              <a:latin typeface="Lato"/>
              <a:ea typeface="Lato"/>
              <a:cs typeface="Lato"/>
              <a:sym typeface="Lato"/>
            </a:endParaRPr>
          </a:p>
          <a:p>
            <a:pPr indent="0" lvl="0" marL="0" marR="0" rtl="0" algn="l">
              <a:lnSpc>
                <a:spcPct val="100000"/>
              </a:lnSpc>
              <a:spcBef>
                <a:spcPts val="1765"/>
              </a:spcBef>
              <a:spcAft>
                <a:spcPts val="0"/>
              </a:spcAft>
              <a:buClr>
                <a:srgbClr val="000000"/>
              </a:buClr>
              <a:buSzPts val="1387"/>
              <a:buFont typeface="Arial"/>
              <a:buNone/>
            </a:pPr>
            <a:r>
              <a:rPr b="1" i="0" lang="en-US" sz="1300" u="none" cap="none" strike="noStrike">
                <a:solidFill>
                  <a:srgbClr val="000000"/>
                </a:solidFill>
                <a:latin typeface="Lato"/>
                <a:ea typeface="Lato"/>
                <a:cs typeface="Lato"/>
                <a:sym typeface="Lato"/>
              </a:rPr>
              <a:t>Ejecución del trabajo</a:t>
            </a:r>
            <a:endParaRPr b="1" i="0" sz="1300" u="none" cap="none" strike="noStrike">
              <a:solidFill>
                <a:srgbClr val="000000"/>
              </a:solidFill>
              <a:latin typeface="Lato"/>
              <a:ea typeface="Lato"/>
              <a:cs typeface="Lato"/>
              <a:sym typeface="Lato"/>
            </a:endParaRPr>
          </a:p>
          <a:p>
            <a:pPr indent="0" lvl="0" marL="0" marR="0" rtl="0" algn="l">
              <a:lnSpc>
                <a:spcPct val="100000"/>
              </a:lnSpc>
              <a:spcBef>
                <a:spcPts val="1513"/>
              </a:spcBef>
              <a:spcAft>
                <a:spcPts val="0"/>
              </a:spcAft>
              <a:buClr>
                <a:srgbClr val="000000"/>
              </a:buClr>
              <a:buSzPts val="1387"/>
              <a:buFont typeface="Arial"/>
              <a:buNone/>
            </a:pPr>
            <a:r>
              <a:rPr b="0" i="0" lang="en-US" sz="1208" u="none" cap="none" strike="noStrike">
                <a:solidFill>
                  <a:srgbClr val="000000"/>
                </a:solidFill>
                <a:latin typeface="Lato"/>
                <a:ea typeface="Lato"/>
                <a:cs typeface="Lato"/>
                <a:sym typeface="Lato"/>
              </a:rPr>
              <a:t>Tiene acceso principalmente a:</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1513"/>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Workbench.</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Tickets asignados.</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Subtareas.</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Documentos asociados.</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Tracking de tiempo.</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Levantar preguntas.</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Redireccionar tickets.</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Completar tickets.</a:t>
            </a:r>
            <a:endParaRPr b="0" i="0" sz="1208" u="none" cap="none" strike="noStrike">
              <a:solidFill>
                <a:srgbClr val="000000"/>
              </a:solidFill>
              <a:latin typeface="Lato"/>
              <a:ea typeface="Lato"/>
              <a:cs typeface="Lato"/>
              <a:sym typeface="Lato"/>
            </a:endParaRPr>
          </a:p>
          <a:p>
            <a:pPr indent="-364893" lvl="0" marL="576316" marR="0" rtl="0" algn="l">
              <a:lnSpc>
                <a:spcPct val="115000"/>
              </a:lnSpc>
              <a:spcBef>
                <a:spcPts val="0"/>
              </a:spcBef>
              <a:spcAft>
                <a:spcPts val="0"/>
              </a:spcAft>
              <a:buClr>
                <a:srgbClr val="000000"/>
              </a:buClr>
              <a:buSzPts val="1208"/>
              <a:buFont typeface="Lato"/>
              <a:buChar char="●"/>
            </a:pPr>
            <a:r>
              <a:rPr b="0" i="0" lang="en-US" sz="1208" u="none" cap="none" strike="noStrike">
                <a:solidFill>
                  <a:srgbClr val="000000"/>
                </a:solidFill>
                <a:latin typeface="Lato"/>
                <a:ea typeface="Lato"/>
                <a:cs typeface="Lato"/>
                <a:sym typeface="Lato"/>
              </a:rPr>
              <a:t>Notificaciones.</a:t>
            </a:r>
            <a:endParaRPr b="0" i="0" sz="1208" u="none" cap="none" strike="noStrike">
              <a:solidFill>
                <a:srgbClr val="000000"/>
              </a:solidFill>
              <a:latin typeface="Lato"/>
              <a:ea typeface="Lato"/>
              <a:cs typeface="Lato"/>
              <a:sym typeface="Lato"/>
            </a:endParaRPr>
          </a:p>
          <a:p>
            <a:pPr indent="0" lvl="0" marL="0" marR="0" rtl="0" algn="l">
              <a:lnSpc>
                <a:spcPct val="100000"/>
              </a:lnSpc>
              <a:spcBef>
                <a:spcPts val="1513"/>
              </a:spcBef>
              <a:spcAft>
                <a:spcPts val="0"/>
              </a:spcAft>
              <a:buClr>
                <a:srgbClr val="000000"/>
              </a:buClr>
              <a:buSzPts val="1387"/>
              <a:buFont typeface="Arial"/>
              <a:buNone/>
            </a:pPr>
            <a:r>
              <a:t/>
            </a:r>
            <a:endParaRPr b="1" i="0" sz="1387" u="none" cap="none" strike="noStrike">
              <a:solidFill>
                <a:srgbClr val="000000"/>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pic>
        <p:nvPicPr>
          <p:cNvPr descr="image.png" id="349" name="Google Shape;349;p11"/>
          <p:cNvPicPr preferRelativeResize="0"/>
          <p:nvPr/>
        </p:nvPicPr>
        <p:blipFill rotWithShape="1">
          <a:blip r:embed="rId3">
            <a:alphaModFix/>
          </a:blip>
          <a:srcRect b="0" l="0" r="0" t="0"/>
          <a:stretch/>
        </p:blipFill>
        <p:spPr>
          <a:xfrm>
            <a:off x="940600" y="1809825"/>
            <a:ext cx="2967596" cy="1939115"/>
          </a:xfrm>
          <a:prstGeom prst="rect">
            <a:avLst/>
          </a:prstGeom>
          <a:noFill/>
          <a:ln>
            <a:noFill/>
          </a:ln>
        </p:spPr>
      </p:pic>
      <p:pic>
        <p:nvPicPr>
          <p:cNvPr descr="image.png" id="350" name="Google Shape;350;p11"/>
          <p:cNvPicPr preferRelativeResize="0"/>
          <p:nvPr/>
        </p:nvPicPr>
        <p:blipFill rotWithShape="1">
          <a:blip r:embed="rId3">
            <a:alphaModFix/>
          </a:blip>
          <a:srcRect b="0" l="0" r="0" t="0"/>
          <a:stretch/>
        </p:blipFill>
        <p:spPr>
          <a:xfrm>
            <a:off x="4122471" y="1809825"/>
            <a:ext cx="2967596" cy="1939115"/>
          </a:xfrm>
          <a:prstGeom prst="rect">
            <a:avLst/>
          </a:prstGeom>
          <a:noFill/>
          <a:ln>
            <a:noFill/>
          </a:ln>
        </p:spPr>
      </p:pic>
      <p:pic>
        <p:nvPicPr>
          <p:cNvPr descr="image.png" id="351" name="Google Shape;351;p11"/>
          <p:cNvPicPr preferRelativeResize="0"/>
          <p:nvPr/>
        </p:nvPicPr>
        <p:blipFill rotWithShape="1">
          <a:blip r:embed="rId3">
            <a:alphaModFix/>
          </a:blip>
          <a:srcRect b="0" l="0" r="0" t="0"/>
          <a:stretch/>
        </p:blipFill>
        <p:spPr>
          <a:xfrm>
            <a:off x="940600" y="4006060"/>
            <a:ext cx="2967596" cy="1939115"/>
          </a:xfrm>
          <a:prstGeom prst="rect">
            <a:avLst/>
          </a:prstGeom>
          <a:noFill/>
          <a:ln>
            <a:noFill/>
          </a:ln>
        </p:spPr>
      </p:pic>
      <p:pic>
        <p:nvPicPr>
          <p:cNvPr descr="image.png" id="352" name="Google Shape;352;p11"/>
          <p:cNvPicPr preferRelativeResize="0"/>
          <p:nvPr/>
        </p:nvPicPr>
        <p:blipFill rotWithShape="1">
          <a:blip r:embed="rId3">
            <a:alphaModFix/>
          </a:blip>
          <a:srcRect b="0" l="0" r="0" t="0"/>
          <a:stretch/>
        </p:blipFill>
        <p:spPr>
          <a:xfrm>
            <a:off x="4122471" y="4006060"/>
            <a:ext cx="2967596" cy="1939115"/>
          </a:xfrm>
          <a:prstGeom prst="rect">
            <a:avLst/>
          </a:prstGeom>
          <a:noFill/>
          <a:ln>
            <a:noFill/>
          </a:ln>
        </p:spPr>
      </p:pic>
      <p:sp>
        <p:nvSpPr>
          <p:cNvPr id="353" name="Google Shape;353;p11"/>
          <p:cNvSpPr txBox="1"/>
          <p:nvPr/>
        </p:nvSpPr>
        <p:spPr>
          <a:xfrm>
            <a:off x="533400" y="457200"/>
            <a:ext cx="11658600" cy="5619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Stack Tecnológico y Arquitectura</a:t>
            </a:r>
            <a:endParaRPr b="0" i="0" sz="1400" u="none" cap="none" strike="noStrike">
              <a:solidFill>
                <a:srgbClr val="000000"/>
              </a:solidFill>
              <a:latin typeface="Arial"/>
              <a:ea typeface="Arial"/>
              <a:cs typeface="Arial"/>
              <a:sym typeface="Arial"/>
            </a:endParaRPr>
          </a:p>
        </p:txBody>
      </p:sp>
      <p:sp>
        <p:nvSpPr>
          <p:cNvPr id="354" name="Google Shape;354;p11"/>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355" name="Google Shape;355;p11"/>
          <p:cNvPicPr preferRelativeResize="0"/>
          <p:nvPr/>
        </p:nvPicPr>
        <p:blipFill rotWithShape="1">
          <a:blip r:embed="rId4">
            <a:alphaModFix/>
          </a:blip>
          <a:srcRect b="0" l="0" r="0" t="0"/>
          <a:stretch/>
        </p:blipFill>
        <p:spPr>
          <a:xfrm>
            <a:off x="2236918" y="2077659"/>
            <a:ext cx="374967" cy="428534"/>
          </a:xfrm>
          <a:prstGeom prst="rect">
            <a:avLst/>
          </a:prstGeom>
          <a:noFill/>
          <a:ln>
            <a:noFill/>
          </a:ln>
        </p:spPr>
      </p:pic>
      <p:sp>
        <p:nvSpPr>
          <p:cNvPr id="356" name="Google Shape;356;p11"/>
          <p:cNvSpPr txBox="1"/>
          <p:nvPr/>
        </p:nvSpPr>
        <p:spPr>
          <a:xfrm>
            <a:off x="1147635" y="2634752"/>
            <a:ext cx="2553600" cy="2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79"/>
              <a:buFont typeface="Arial"/>
              <a:buNone/>
            </a:pPr>
            <a:r>
              <a:rPr b="1" i="0" lang="en-US" sz="1579" u="none" cap="none" strike="noStrike">
                <a:solidFill>
                  <a:srgbClr val="0F172A"/>
                </a:solidFill>
                <a:latin typeface="Poppins"/>
                <a:ea typeface="Poppins"/>
                <a:cs typeface="Poppins"/>
                <a:sym typeface="Poppins"/>
              </a:rPr>
              <a:t>Frontend</a:t>
            </a:r>
            <a:endParaRPr b="0" i="0" sz="1575" u="none" cap="none" strike="noStrike">
              <a:solidFill>
                <a:srgbClr val="000000"/>
              </a:solidFill>
              <a:latin typeface="Arial"/>
              <a:ea typeface="Arial"/>
              <a:cs typeface="Arial"/>
              <a:sym typeface="Arial"/>
            </a:endParaRPr>
          </a:p>
        </p:txBody>
      </p:sp>
      <p:sp>
        <p:nvSpPr>
          <p:cNvPr id="357" name="Google Shape;357;p11"/>
          <p:cNvSpPr txBox="1"/>
          <p:nvPr/>
        </p:nvSpPr>
        <p:spPr>
          <a:xfrm>
            <a:off x="1208434" y="3031146"/>
            <a:ext cx="2431800" cy="519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181"/>
              <a:buFont typeface="Arial"/>
              <a:buNone/>
            </a:pPr>
            <a:r>
              <a:rPr b="0" i="0" lang="en-US" sz="1350" u="none" cap="none" strike="noStrike">
                <a:solidFill>
                  <a:srgbClr val="334155"/>
                </a:solidFill>
                <a:latin typeface="Lato"/>
                <a:ea typeface="Lato"/>
                <a:cs typeface="Lato"/>
                <a:sym typeface="Lato"/>
              </a:rPr>
              <a:t>Vue 3 · TypeScript · Vite · Pinia · Tailwind CSS · Custom CSS Vars</a:t>
            </a:r>
            <a:endParaRPr b="0" i="0" sz="1350" u="none" cap="none" strike="noStrike">
              <a:solidFill>
                <a:srgbClr val="000000"/>
              </a:solidFill>
              <a:latin typeface="Arial"/>
              <a:ea typeface="Arial"/>
              <a:cs typeface="Arial"/>
              <a:sym typeface="Arial"/>
            </a:endParaRPr>
          </a:p>
        </p:txBody>
      </p:sp>
      <p:pic>
        <p:nvPicPr>
          <p:cNvPr descr="image.png" id="358" name="Google Shape;358;p11"/>
          <p:cNvPicPr preferRelativeResize="0"/>
          <p:nvPr/>
        </p:nvPicPr>
        <p:blipFill rotWithShape="1">
          <a:blip r:embed="rId5">
            <a:alphaModFix/>
          </a:blip>
          <a:srcRect b="0" l="0" r="0" t="0"/>
          <a:stretch/>
        </p:blipFill>
        <p:spPr>
          <a:xfrm>
            <a:off x="5418789" y="2077659"/>
            <a:ext cx="374967" cy="428534"/>
          </a:xfrm>
          <a:prstGeom prst="rect">
            <a:avLst/>
          </a:prstGeom>
          <a:noFill/>
          <a:ln>
            <a:noFill/>
          </a:ln>
        </p:spPr>
      </p:pic>
      <p:sp>
        <p:nvSpPr>
          <p:cNvPr id="359" name="Google Shape;359;p11"/>
          <p:cNvSpPr txBox="1"/>
          <p:nvPr/>
        </p:nvSpPr>
        <p:spPr>
          <a:xfrm>
            <a:off x="4329506" y="2634752"/>
            <a:ext cx="2553600" cy="2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79"/>
              <a:buFont typeface="Arial"/>
              <a:buNone/>
            </a:pPr>
            <a:r>
              <a:rPr b="1" i="0" lang="en-US" sz="1579" u="none" cap="none" strike="noStrike">
                <a:solidFill>
                  <a:srgbClr val="0F172A"/>
                </a:solidFill>
                <a:latin typeface="Poppins"/>
                <a:ea typeface="Poppins"/>
                <a:cs typeface="Poppins"/>
                <a:sym typeface="Poppins"/>
              </a:rPr>
              <a:t>Backend</a:t>
            </a:r>
            <a:endParaRPr b="0" i="0" sz="1575" u="none" cap="none" strike="noStrike">
              <a:solidFill>
                <a:srgbClr val="000000"/>
              </a:solidFill>
              <a:latin typeface="Arial"/>
              <a:ea typeface="Arial"/>
              <a:cs typeface="Arial"/>
              <a:sym typeface="Arial"/>
            </a:endParaRPr>
          </a:p>
        </p:txBody>
      </p:sp>
      <p:sp>
        <p:nvSpPr>
          <p:cNvPr id="360" name="Google Shape;360;p11"/>
          <p:cNvSpPr txBox="1"/>
          <p:nvPr/>
        </p:nvSpPr>
        <p:spPr>
          <a:xfrm>
            <a:off x="4226090" y="3031146"/>
            <a:ext cx="2760600" cy="519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181"/>
              <a:buFont typeface="Arial"/>
              <a:buNone/>
            </a:pPr>
            <a:r>
              <a:rPr b="0" i="0" lang="en-US" sz="1350" u="none" cap="none" strike="noStrike">
                <a:solidFill>
                  <a:srgbClr val="334155"/>
                </a:solidFill>
                <a:latin typeface="Lato"/>
                <a:ea typeface="Lato"/>
                <a:cs typeface="Lato"/>
                <a:sym typeface="Lato"/>
              </a:rPr>
              <a:t>FastAPI (Python) · Pydantic · SQLAlchemy · Machine State Ticket</a:t>
            </a:r>
            <a:endParaRPr b="0" i="0" sz="1350" u="none" cap="none" strike="noStrike">
              <a:solidFill>
                <a:srgbClr val="000000"/>
              </a:solidFill>
              <a:latin typeface="Arial"/>
              <a:ea typeface="Arial"/>
              <a:cs typeface="Arial"/>
              <a:sym typeface="Arial"/>
            </a:endParaRPr>
          </a:p>
        </p:txBody>
      </p:sp>
      <p:pic>
        <p:nvPicPr>
          <p:cNvPr descr="image.png" id="361" name="Google Shape;361;p11"/>
          <p:cNvPicPr preferRelativeResize="0"/>
          <p:nvPr/>
        </p:nvPicPr>
        <p:blipFill rotWithShape="1">
          <a:blip r:embed="rId6">
            <a:alphaModFix/>
          </a:blip>
          <a:srcRect b="0" l="0" r="0" t="0"/>
          <a:stretch/>
        </p:blipFill>
        <p:spPr>
          <a:xfrm>
            <a:off x="2236918" y="4273894"/>
            <a:ext cx="374967" cy="428534"/>
          </a:xfrm>
          <a:prstGeom prst="rect">
            <a:avLst/>
          </a:prstGeom>
          <a:noFill/>
          <a:ln>
            <a:noFill/>
          </a:ln>
        </p:spPr>
      </p:pic>
      <p:sp>
        <p:nvSpPr>
          <p:cNvPr id="362" name="Google Shape;362;p11"/>
          <p:cNvSpPr txBox="1"/>
          <p:nvPr/>
        </p:nvSpPr>
        <p:spPr>
          <a:xfrm>
            <a:off x="1147635" y="4830987"/>
            <a:ext cx="2553600" cy="2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79"/>
              <a:buFont typeface="Arial"/>
              <a:buNone/>
            </a:pPr>
            <a:r>
              <a:rPr b="1" i="0" lang="en-US" sz="1579" u="none" cap="none" strike="noStrike">
                <a:solidFill>
                  <a:srgbClr val="0F172A"/>
                </a:solidFill>
                <a:latin typeface="Poppins"/>
                <a:ea typeface="Poppins"/>
                <a:cs typeface="Poppins"/>
                <a:sym typeface="Poppins"/>
              </a:rPr>
              <a:t>Datos &amp; Cache</a:t>
            </a:r>
            <a:endParaRPr b="0" i="0" sz="1575" u="none" cap="none" strike="noStrike">
              <a:solidFill>
                <a:srgbClr val="000000"/>
              </a:solidFill>
              <a:latin typeface="Arial"/>
              <a:ea typeface="Arial"/>
              <a:cs typeface="Arial"/>
              <a:sym typeface="Arial"/>
            </a:endParaRPr>
          </a:p>
        </p:txBody>
      </p:sp>
      <p:sp>
        <p:nvSpPr>
          <p:cNvPr id="363" name="Google Shape;363;p11"/>
          <p:cNvSpPr txBox="1"/>
          <p:nvPr/>
        </p:nvSpPr>
        <p:spPr>
          <a:xfrm>
            <a:off x="1208434" y="5227381"/>
            <a:ext cx="2431800" cy="519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181"/>
              <a:buFont typeface="Arial"/>
              <a:buNone/>
            </a:pPr>
            <a:r>
              <a:rPr b="0" i="0" lang="en-US" sz="1350" u="none" cap="none" strike="noStrike">
                <a:solidFill>
                  <a:srgbClr val="334155"/>
                </a:solidFill>
                <a:latin typeface="Lato"/>
                <a:ea typeface="Lato"/>
                <a:cs typeface="Lato"/>
                <a:sym typeface="Lato"/>
              </a:rPr>
              <a:t>PostgreSQL · Redis · ARQ Async Tasks · Document Storage</a:t>
            </a:r>
            <a:endParaRPr b="0" i="0" sz="1350" u="none" cap="none" strike="noStrike">
              <a:solidFill>
                <a:srgbClr val="000000"/>
              </a:solidFill>
              <a:latin typeface="Arial"/>
              <a:ea typeface="Arial"/>
              <a:cs typeface="Arial"/>
              <a:sym typeface="Arial"/>
            </a:endParaRPr>
          </a:p>
        </p:txBody>
      </p:sp>
      <p:pic>
        <p:nvPicPr>
          <p:cNvPr descr="image.png" id="364" name="Google Shape;364;p11"/>
          <p:cNvPicPr preferRelativeResize="0"/>
          <p:nvPr/>
        </p:nvPicPr>
        <p:blipFill rotWithShape="1">
          <a:blip r:embed="rId7">
            <a:alphaModFix/>
          </a:blip>
          <a:srcRect b="0" l="0" r="0" t="0"/>
          <a:stretch/>
        </p:blipFill>
        <p:spPr>
          <a:xfrm>
            <a:off x="5338438" y="4273894"/>
            <a:ext cx="535667" cy="428534"/>
          </a:xfrm>
          <a:prstGeom prst="rect">
            <a:avLst/>
          </a:prstGeom>
          <a:noFill/>
          <a:ln>
            <a:noFill/>
          </a:ln>
        </p:spPr>
      </p:pic>
      <p:sp>
        <p:nvSpPr>
          <p:cNvPr id="365" name="Google Shape;365;p11"/>
          <p:cNvSpPr txBox="1"/>
          <p:nvPr/>
        </p:nvSpPr>
        <p:spPr>
          <a:xfrm>
            <a:off x="4329506" y="4830987"/>
            <a:ext cx="2553600" cy="2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79"/>
              <a:buFont typeface="Arial"/>
              <a:buNone/>
            </a:pPr>
            <a:r>
              <a:rPr b="1" i="0" lang="en-US" sz="1579" u="none" cap="none" strike="noStrike">
                <a:solidFill>
                  <a:srgbClr val="0F172A"/>
                </a:solidFill>
                <a:latin typeface="Poppins"/>
                <a:ea typeface="Poppins"/>
                <a:cs typeface="Poppins"/>
                <a:sym typeface="Poppins"/>
              </a:rPr>
              <a:t>Infraestructura</a:t>
            </a:r>
            <a:endParaRPr b="0" i="0" sz="1575" u="none" cap="none" strike="noStrike">
              <a:solidFill>
                <a:srgbClr val="000000"/>
              </a:solidFill>
              <a:latin typeface="Arial"/>
              <a:ea typeface="Arial"/>
              <a:cs typeface="Arial"/>
              <a:sym typeface="Arial"/>
            </a:endParaRPr>
          </a:p>
        </p:txBody>
      </p:sp>
      <p:sp>
        <p:nvSpPr>
          <p:cNvPr id="366" name="Google Shape;366;p11"/>
          <p:cNvSpPr txBox="1"/>
          <p:nvPr/>
        </p:nvSpPr>
        <p:spPr>
          <a:xfrm>
            <a:off x="4390305" y="5227381"/>
            <a:ext cx="2431800" cy="519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1181"/>
              <a:buFont typeface="Arial"/>
              <a:buNone/>
            </a:pPr>
            <a:r>
              <a:rPr b="0" i="0" lang="en-US" sz="1350" u="none" cap="none" strike="noStrike">
                <a:solidFill>
                  <a:srgbClr val="334155"/>
                </a:solidFill>
                <a:latin typeface="Lato"/>
                <a:ea typeface="Lato"/>
                <a:cs typeface="Lato"/>
                <a:sym typeface="Lato"/>
              </a:rPr>
              <a:t>Docker Compose · GitHub Actions CI/CD · Vercel / Railway</a:t>
            </a:r>
            <a:endParaRPr b="0" i="0" sz="1350" u="none" cap="none" strike="noStrike">
              <a:solidFill>
                <a:srgbClr val="000000"/>
              </a:solidFill>
              <a:latin typeface="Arial"/>
              <a:ea typeface="Arial"/>
              <a:cs typeface="Arial"/>
              <a:sym typeface="Arial"/>
            </a:endParaRPr>
          </a:p>
        </p:txBody>
      </p:sp>
      <p:pic>
        <p:nvPicPr>
          <p:cNvPr id="367" name="Google Shape;367;p11"/>
          <p:cNvPicPr preferRelativeResize="0"/>
          <p:nvPr/>
        </p:nvPicPr>
        <p:blipFill rotWithShape="1">
          <a:blip r:embed="rId8">
            <a:alphaModFix/>
          </a:blip>
          <a:srcRect b="0" l="0" r="0" t="0"/>
          <a:stretch/>
        </p:blipFill>
        <p:spPr>
          <a:xfrm>
            <a:off x="8119859" y="1480250"/>
            <a:ext cx="2649682"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12"/>
          <p:cNvSpPr txBox="1"/>
          <p:nvPr/>
        </p:nvSpPr>
        <p:spPr>
          <a:xfrm>
            <a:off x="533400" y="457200"/>
            <a:ext cx="11658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Metodología y fases del proyecto</a:t>
            </a:r>
            <a:endParaRPr b="0" i="0" sz="1400" u="none" cap="none" strike="noStrike">
              <a:solidFill>
                <a:srgbClr val="000000"/>
              </a:solidFill>
              <a:latin typeface="Arial"/>
              <a:ea typeface="Arial"/>
              <a:cs typeface="Arial"/>
              <a:sym typeface="Arial"/>
            </a:endParaRPr>
          </a:p>
        </p:txBody>
      </p:sp>
      <p:sp>
        <p:nvSpPr>
          <p:cNvPr id="373" name="Google Shape;373;p12"/>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p12"/>
          <p:cNvSpPr txBox="1"/>
          <p:nvPr/>
        </p:nvSpPr>
        <p:spPr>
          <a:xfrm>
            <a:off x="533400" y="1191800"/>
            <a:ext cx="11029800" cy="85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88"/>
              <a:buFont typeface="Arial"/>
              <a:buNone/>
            </a:pPr>
            <a:r>
              <a:rPr b="0" i="0" lang="en-US" u="none" cap="none" strike="noStrike">
                <a:solidFill>
                  <a:srgbClr val="000000"/>
                </a:solidFill>
                <a:latin typeface="Lato"/>
                <a:ea typeface="Lato"/>
                <a:cs typeface="Lato"/>
                <a:sym typeface="Lato"/>
              </a:rPr>
              <a:t>Se utilizará una planificación de </a:t>
            </a:r>
            <a:r>
              <a:rPr b="1" lang="en-US" sz="1500" u="none" cap="none" strike="noStrike">
                <a:solidFill>
                  <a:srgbClr val="000000"/>
                </a:solidFill>
                <a:latin typeface="Lato"/>
                <a:ea typeface="Lato"/>
                <a:cs typeface="Lato"/>
                <a:sym typeface="Lato"/>
              </a:rPr>
              <a:t>Cascada </a:t>
            </a:r>
            <a:r>
              <a:rPr b="0" i="0" lang="en-US" u="none" cap="none" strike="noStrike">
                <a:solidFill>
                  <a:srgbClr val="000000"/>
                </a:solidFill>
                <a:latin typeface="Lato"/>
                <a:ea typeface="Lato"/>
                <a:cs typeface="Lato"/>
                <a:sym typeface="Lato"/>
              </a:rPr>
              <a:t>para avanzar por las fases de forma consecutivas, permitiendo establecer objetivos y entregables claros para cada etapa del desarrollo.</a:t>
            </a:r>
            <a:endParaRPr b="0" i="0" u="none" cap="none" strike="noStrike">
              <a:solidFill>
                <a:srgbClr val="000000"/>
              </a:solidFill>
              <a:latin typeface="Lato"/>
              <a:ea typeface="Lato"/>
              <a:cs typeface="Lato"/>
              <a:sym typeface="Lato"/>
            </a:endParaRPr>
          </a:p>
          <a:p>
            <a:pPr indent="0" lvl="0" marL="0" marR="0" rtl="0" algn="l">
              <a:lnSpc>
                <a:spcPct val="115000"/>
              </a:lnSpc>
              <a:spcBef>
                <a:spcPts val="1200"/>
              </a:spcBef>
              <a:spcAft>
                <a:spcPts val="0"/>
              </a:spcAft>
              <a:buClr>
                <a:schemeClr val="dk1"/>
              </a:buClr>
              <a:buSzPts val="1100"/>
              <a:buFont typeface="Arial"/>
              <a:buNone/>
            </a:pPr>
            <a:r>
              <a:t/>
            </a:r>
            <a:endParaRPr b="0" i="0" sz="1088" u="none" cap="none" strike="noStrike">
              <a:solidFill>
                <a:srgbClr val="000000"/>
              </a:solidFill>
              <a:latin typeface="Lato"/>
              <a:ea typeface="Lato"/>
              <a:cs typeface="Lato"/>
              <a:sym typeface="Lato"/>
            </a:endParaRPr>
          </a:p>
          <a:p>
            <a:pPr indent="0" lvl="0" marL="0" marR="0" rtl="0" algn="l">
              <a:lnSpc>
                <a:spcPct val="115000"/>
              </a:lnSpc>
              <a:spcBef>
                <a:spcPts val="1200"/>
              </a:spcBef>
              <a:spcAft>
                <a:spcPts val="0"/>
              </a:spcAft>
              <a:buClr>
                <a:srgbClr val="000000"/>
              </a:buClr>
              <a:buSzPts val="1088"/>
              <a:buFont typeface="Arial"/>
              <a:buNone/>
            </a:pPr>
            <a:r>
              <a:t/>
            </a:r>
            <a:endParaRPr b="0" i="0" sz="1088" u="none" cap="none" strike="noStrike">
              <a:solidFill>
                <a:srgbClr val="000000"/>
              </a:solidFill>
              <a:latin typeface="Lato"/>
              <a:ea typeface="Lato"/>
              <a:cs typeface="Lato"/>
              <a:sym typeface="Lato"/>
            </a:endParaRPr>
          </a:p>
          <a:p>
            <a:pPr indent="0" lvl="0" marL="0" marR="0" rtl="0" algn="l">
              <a:lnSpc>
                <a:spcPct val="115000"/>
              </a:lnSpc>
              <a:spcBef>
                <a:spcPts val="1200"/>
              </a:spcBef>
              <a:spcAft>
                <a:spcPts val="1200"/>
              </a:spcAft>
              <a:buClr>
                <a:srgbClr val="000000"/>
              </a:buClr>
              <a:buSzPts val="1088"/>
              <a:buFont typeface="Arial"/>
              <a:buNone/>
            </a:pPr>
            <a:r>
              <a:t/>
            </a:r>
            <a:endParaRPr b="0" i="0" sz="1088" u="none" cap="none" strike="noStrike">
              <a:solidFill>
                <a:srgbClr val="000000"/>
              </a:solidFill>
              <a:latin typeface="Lato"/>
              <a:ea typeface="Lato"/>
              <a:cs typeface="Lato"/>
              <a:sym typeface="Lato"/>
            </a:endParaRPr>
          </a:p>
        </p:txBody>
      </p:sp>
      <p:pic>
        <p:nvPicPr>
          <p:cNvPr descr="image.png" id="375" name="Google Shape;375;p12"/>
          <p:cNvPicPr preferRelativeResize="0"/>
          <p:nvPr/>
        </p:nvPicPr>
        <p:blipFill rotWithShape="1">
          <a:blip r:embed="rId3">
            <a:alphaModFix/>
          </a:blip>
          <a:srcRect b="0" l="0" r="0" t="0"/>
          <a:stretch/>
        </p:blipFill>
        <p:spPr>
          <a:xfrm>
            <a:off x="517550" y="2083200"/>
            <a:ext cx="3606700" cy="1034625"/>
          </a:xfrm>
          <a:prstGeom prst="rect">
            <a:avLst/>
          </a:prstGeom>
          <a:noFill/>
          <a:ln>
            <a:noFill/>
          </a:ln>
        </p:spPr>
      </p:pic>
      <p:pic>
        <p:nvPicPr>
          <p:cNvPr descr="image.png" id="376" name="Google Shape;376;p12"/>
          <p:cNvPicPr preferRelativeResize="0"/>
          <p:nvPr/>
        </p:nvPicPr>
        <p:blipFill rotWithShape="1">
          <a:blip r:embed="rId4">
            <a:alphaModFix/>
          </a:blip>
          <a:srcRect b="0" l="0" r="0" t="0"/>
          <a:stretch/>
        </p:blipFill>
        <p:spPr>
          <a:xfrm>
            <a:off x="4276650" y="2083200"/>
            <a:ext cx="3606849" cy="1034625"/>
          </a:xfrm>
          <a:prstGeom prst="rect">
            <a:avLst/>
          </a:prstGeom>
          <a:noFill/>
          <a:ln>
            <a:noFill/>
          </a:ln>
        </p:spPr>
      </p:pic>
      <p:pic>
        <p:nvPicPr>
          <p:cNvPr descr="image.png" id="377" name="Google Shape;377;p12"/>
          <p:cNvPicPr preferRelativeResize="0"/>
          <p:nvPr/>
        </p:nvPicPr>
        <p:blipFill rotWithShape="1">
          <a:blip r:embed="rId5">
            <a:alphaModFix/>
          </a:blip>
          <a:srcRect b="0" l="0" r="0" t="0"/>
          <a:stretch/>
        </p:blipFill>
        <p:spPr>
          <a:xfrm>
            <a:off x="8035900" y="2083200"/>
            <a:ext cx="3606700" cy="1034625"/>
          </a:xfrm>
          <a:prstGeom prst="rect">
            <a:avLst/>
          </a:prstGeom>
          <a:noFill/>
          <a:ln>
            <a:noFill/>
          </a:ln>
        </p:spPr>
      </p:pic>
      <p:graphicFrame>
        <p:nvGraphicFramePr>
          <p:cNvPr id="378" name="Google Shape;378;p12"/>
          <p:cNvGraphicFramePr/>
          <p:nvPr/>
        </p:nvGraphicFramePr>
        <p:xfrm>
          <a:off x="517550" y="3348536"/>
          <a:ext cx="3000000" cy="3000000"/>
        </p:xfrm>
        <a:graphic>
          <a:graphicData uri="http://schemas.openxmlformats.org/drawingml/2006/table">
            <a:tbl>
              <a:tblPr bandRow="1" firstRow="1">
                <a:noFill/>
                <a:tableStyleId>{D0BF4FEB-6809-4173-A92F-51A736F13E78}</a:tableStyleId>
              </a:tblPr>
              <a:tblGrid>
                <a:gridCol w="4220325"/>
                <a:gridCol w="1332600"/>
                <a:gridCol w="1332600"/>
                <a:gridCol w="4220625"/>
              </a:tblGrid>
              <a:tr h="432700">
                <a:tc>
                  <a:txBody>
                    <a:bodyPr/>
                    <a:lstStyle/>
                    <a:p>
                      <a:pPr indent="0" lvl="0" marL="0" marR="0" rtl="0" algn="l">
                        <a:spcBef>
                          <a:spcPts val="0"/>
                        </a:spcBef>
                        <a:spcAft>
                          <a:spcPts val="0"/>
                        </a:spcAft>
                        <a:buNone/>
                      </a:pPr>
                      <a:r>
                        <a:rPr b="0" i="0" lang="en-US" sz="1300" u="none" cap="none" strike="noStrike">
                          <a:solidFill>
                            <a:srgbClr val="FFFFFF"/>
                          </a:solidFill>
                          <a:latin typeface="Plus Jakarta Sans SemiBold"/>
                          <a:ea typeface="Plus Jakarta Sans SemiBold"/>
                          <a:cs typeface="Plus Jakarta Sans SemiBold"/>
                          <a:sym typeface="Plus Jakarta Sans SemiBold"/>
                        </a:rPr>
                        <a:t>Actividad Principal (Carta Gantt)</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l">
                        <a:spcBef>
                          <a:spcPts val="0"/>
                        </a:spcBef>
                        <a:spcAft>
                          <a:spcPts val="0"/>
                        </a:spcAft>
                        <a:buNone/>
                      </a:pPr>
                      <a:r>
                        <a:rPr b="0" i="0" lang="en-US" sz="1300" u="none" cap="none" strike="noStrike">
                          <a:solidFill>
                            <a:srgbClr val="FFFFFF"/>
                          </a:solidFill>
                          <a:latin typeface="Plus Jakarta Sans SemiBold"/>
                          <a:ea typeface="Plus Jakarta Sans SemiBold"/>
                          <a:cs typeface="Plus Jakarta Sans SemiBold"/>
                          <a:sym typeface="Plus Jakarta Sans SemiBold"/>
                        </a:rPr>
                        <a:t>Fase</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l">
                        <a:spcBef>
                          <a:spcPts val="0"/>
                        </a:spcBef>
                        <a:spcAft>
                          <a:spcPts val="0"/>
                        </a:spcAft>
                        <a:buNone/>
                      </a:pPr>
                      <a:r>
                        <a:rPr b="0" i="0" lang="en-US" sz="1300" u="none" cap="none" strike="noStrike">
                          <a:solidFill>
                            <a:srgbClr val="FFFFFF"/>
                          </a:solidFill>
                          <a:latin typeface="Plus Jakarta Sans SemiBold"/>
                          <a:ea typeface="Plus Jakarta Sans SemiBold"/>
                          <a:cs typeface="Plus Jakarta Sans SemiBold"/>
                          <a:sym typeface="Plus Jakarta Sans SemiBold"/>
                        </a:rPr>
                        <a:t>Semanas</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c>
                  <a:txBody>
                    <a:bodyPr/>
                    <a:lstStyle/>
                    <a:p>
                      <a:pPr indent="0" lvl="0" marL="0" marR="0" rtl="0" algn="l">
                        <a:spcBef>
                          <a:spcPts val="0"/>
                        </a:spcBef>
                        <a:spcAft>
                          <a:spcPts val="0"/>
                        </a:spcAft>
                        <a:buNone/>
                      </a:pPr>
                      <a:r>
                        <a:rPr b="0" i="0" lang="en-US" sz="1300" u="none" cap="none" strike="noStrike">
                          <a:solidFill>
                            <a:srgbClr val="FFFFFF"/>
                          </a:solidFill>
                          <a:latin typeface="Plus Jakarta Sans SemiBold"/>
                          <a:ea typeface="Plus Jakarta Sans SemiBold"/>
                          <a:cs typeface="Plus Jakarta Sans SemiBold"/>
                          <a:sym typeface="Plus Jakarta Sans SemiBold"/>
                        </a:rPr>
                        <a:t>Responsables / Hito</a:t>
                      </a:r>
                      <a:endParaRPr sz="13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F46E5"/>
                    </a:solidFill>
                  </a:tcPr>
                </a:tc>
              </a:tr>
              <a:tr h="432700">
                <a:tc>
                  <a:txBody>
                    <a:bodyPr/>
                    <a:lstStyle/>
                    <a:p>
                      <a:pPr indent="0" lvl="0" marL="0" marR="0" rtl="0" algn="l">
                        <a:spcBef>
                          <a:spcPts val="0"/>
                        </a:spcBef>
                        <a:spcAft>
                          <a:spcPts val="0"/>
                        </a:spcAft>
                        <a:buNone/>
                      </a:pPr>
                      <a:r>
                        <a:rPr b="1" i="0" lang="en-US" sz="1100" u="none" cap="none" strike="noStrike">
                          <a:solidFill>
                            <a:srgbClr val="334155"/>
                          </a:solidFill>
                          <a:latin typeface="Inter"/>
                          <a:ea typeface="Inter"/>
                          <a:cs typeface="Inter"/>
                          <a:sym typeface="Inter"/>
                        </a:rPr>
                        <a:t>Análisis de Requerimientos y Arquitectura Existente</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Fase 1</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S1 - S2</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Todo el equipo (Revisión de código y especificaciones)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32700">
                <a:tc>
                  <a:txBody>
                    <a:bodyPr/>
                    <a:lstStyle/>
                    <a:p>
                      <a:pPr indent="0" lvl="0" marL="0" marR="0" rtl="0" algn="l">
                        <a:spcBef>
                          <a:spcPts val="0"/>
                        </a:spcBef>
                        <a:spcAft>
                          <a:spcPts val="0"/>
                        </a:spcAft>
                        <a:buNone/>
                      </a:pPr>
                      <a:r>
                        <a:rPr b="1" i="0" lang="en-US" sz="1100" u="none" cap="none" strike="noStrike">
                          <a:solidFill>
                            <a:srgbClr val="334155"/>
                          </a:solidFill>
                          <a:latin typeface="Inter"/>
                          <a:ea typeface="Inter"/>
                          <a:cs typeface="Inter"/>
                          <a:sym typeface="Inter"/>
                        </a:rPr>
                        <a:t>Desarrollo Core (Comentarios, Adjuntos, Etiquetas, Kanban)</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Fase 2</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S3 - S6</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Dev Frontend / Dev Backend (Módulos NEW-01 a NEW-04)</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32700">
                <a:tc>
                  <a:txBody>
                    <a:bodyPr/>
                    <a:lstStyle/>
                    <a:p>
                      <a:pPr indent="0" lvl="0" marL="0" marR="0" rtl="0" algn="l">
                        <a:spcBef>
                          <a:spcPts val="0"/>
                        </a:spcBef>
                        <a:spcAft>
                          <a:spcPts val="0"/>
                        </a:spcAft>
                        <a:buNone/>
                      </a:pPr>
                      <a:r>
                        <a:rPr b="1" i="0" lang="en-US" sz="1100" u="none" cap="none" strike="noStrike">
                          <a:solidFill>
                            <a:srgbClr val="334155"/>
                          </a:solidFill>
                          <a:latin typeface="Inter"/>
                          <a:ea typeface="Inter"/>
                          <a:cs typeface="Inter"/>
                          <a:sym typeface="Inter"/>
                        </a:rPr>
                        <a:t>Desarrollo Avanzado (Sprints, SLA, Reportes, Buscador)</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Fase 2</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S7 - S10</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Dev Backend / DB Integration (Módulos NEW-05 a NEW-13)</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32700">
                <a:tc>
                  <a:txBody>
                    <a:bodyPr/>
                    <a:lstStyle/>
                    <a:p>
                      <a:pPr indent="0" lvl="0" marL="0" marR="0" rtl="0" algn="l">
                        <a:spcBef>
                          <a:spcPts val="0"/>
                        </a:spcBef>
                        <a:spcAft>
                          <a:spcPts val="0"/>
                        </a:spcAft>
                        <a:buNone/>
                      </a:pPr>
                      <a:r>
                        <a:rPr b="1" i="0" lang="en-US" sz="1100" u="none" cap="none" strike="noStrike">
                          <a:solidFill>
                            <a:srgbClr val="334155"/>
                          </a:solidFill>
                          <a:latin typeface="Inter"/>
                          <a:ea typeface="Inter"/>
                          <a:cs typeface="Inter"/>
                          <a:sym typeface="Inter"/>
                        </a:rPr>
                        <a:t>Persistencia de Datos e Integración de Servicios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Fase 2</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S11</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Base de Datos / Backend (Alembic &amp; Postgres)</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32700">
                <a:tc>
                  <a:txBody>
                    <a:bodyPr/>
                    <a:lstStyle/>
                    <a:p>
                      <a:pPr indent="0" lvl="0" marL="0" marR="0" rtl="0" algn="l">
                        <a:spcBef>
                          <a:spcPts val="0"/>
                        </a:spcBef>
                        <a:spcAft>
                          <a:spcPts val="0"/>
                        </a:spcAft>
                        <a:buNone/>
                      </a:pPr>
                      <a:r>
                        <a:rPr b="1" i="0" lang="en-US" sz="1100" u="none" cap="none" strike="noStrike">
                          <a:solidFill>
                            <a:srgbClr val="334155"/>
                          </a:solidFill>
                          <a:latin typeface="Inter"/>
                          <a:ea typeface="Inter"/>
                          <a:cs typeface="Inter"/>
                          <a:sym typeface="Inter"/>
                        </a:rPr>
                        <a:t>Pruebas Funcionales, Validación de Seguridad (RBAC/JWT)</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Fase 3</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S12 - S13</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Testing / Todo el equipo (Validación de calidad)</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32700">
                <a:tc>
                  <a:txBody>
                    <a:bodyPr/>
                    <a:lstStyle/>
                    <a:p>
                      <a:pPr indent="0" lvl="0" marL="0" marR="0" rtl="0" algn="l">
                        <a:spcBef>
                          <a:spcPts val="0"/>
                        </a:spcBef>
                        <a:spcAft>
                          <a:spcPts val="0"/>
                        </a:spcAft>
                        <a:buNone/>
                      </a:pPr>
                      <a:r>
                        <a:rPr b="1" i="0" lang="en-US" sz="1100" u="none" cap="none" strike="noStrike">
                          <a:solidFill>
                            <a:srgbClr val="334155"/>
                          </a:solidFill>
                          <a:latin typeface="Inter"/>
                          <a:ea typeface="Inter"/>
                          <a:cs typeface="Inter"/>
                          <a:sym typeface="Inter"/>
                        </a:rPr>
                        <a:t>Corrección, Estabilización, Documentación Final y Cierre</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Fase 3</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S14 - S16</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00" u="none" cap="none" strike="noStrike">
                          <a:solidFill>
                            <a:srgbClr val="334155"/>
                          </a:solidFill>
                          <a:latin typeface="Inter"/>
                          <a:ea typeface="Inter"/>
                          <a:cs typeface="Inter"/>
                          <a:sym typeface="Inter"/>
                        </a:rPr>
                        <a:t>Todo el equipo (Informe Final y Memoria APT)</a:t>
                      </a:r>
                      <a:endParaRPr sz="11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379" name="Google Shape;379;p12"/>
          <p:cNvSpPr txBox="1"/>
          <p:nvPr/>
        </p:nvSpPr>
        <p:spPr>
          <a:xfrm>
            <a:off x="689000" y="2216550"/>
            <a:ext cx="3467100" cy="20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25" u="none" cap="none" strike="noStrike">
                <a:solidFill>
                  <a:srgbClr val="1E293B"/>
                </a:solidFill>
                <a:latin typeface="Plus Jakarta Sans"/>
                <a:ea typeface="Plus Jakarta Sans"/>
                <a:cs typeface="Plus Jakarta Sans"/>
                <a:sym typeface="Plus Jakarta Sans"/>
              </a:rPr>
              <a:t>Fase 1: Análisis &amp; Diseño</a:t>
            </a:r>
            <a:endParaRPr sz="1600"/>
          </a:p>
        </p:txBody>
      </p:sp>
      <p:sp>
        <p:nvSpPr>
          <p:cNvPr id="380" name="Google Shape;380;p12"/>
          <p:cNvSpPr txBox="1"/>
          <p:nvPr/>
        </p:nvSpPr>
        <p:spPr>
          <a:xfrm>
            <a:off x="689000" y="2538291"/>
            <a:ext cx="3301800" cy="475800"/>
          </a:xfrm>
          <a:prstGeom prst="rect">
            <a:avLst/>
          </a:prstGeom>
          <a:noFill/>
          <a:ln>
            <a:noFill/>
          </a:ln>
        </p:spPr>
        <p:txBody>
          <a:bodyPr anchorCtr="0" anchor="t" bIns="0" lIns="0" spcFirstLastPara="1" rIns="0" wrap="square" tIns="0">
            <a:spAutoFit/>
          </a:bodyPr>
          <a:lstStyle/>
          <a:p>
            <a:pPr indent="0" lvl="0" marL="0" marR="0" rtl="0" algn="l">
              <a:lnSpc>
                <a:spcPct val="155039"/>
              </a:lnSpc>
              <a:spcBef>
                <a:spcPts val="0"/>
              </a:spcBef>
              <a:spcAft>
                <a:spcPts val="0"/>
              </a:spcAft>
              <a:buNone/>
            </a:pPr>
            <a:r>
              <a:rPr b="0" i="0" lang="en-US" sz="1212" u="none" cap="none" strike="noStrike">
                <a:solidFill>
                  <a:srgbClr val="64748B"/>
                </a:solidFill>
                <a:latin typeface="Inter"/>
                <a:ea typeface="Inter"/>
                <a:cs typeface="Inter"/>
                <a:sym typeface="Inter"/>
              </a:rPr>
              <a:t>Modelo Cascada · Levantamiento de reqs. y arquitectura base.</a:t>
            </a:r>
            <a:endParaRPr sz="1600"/>
          </a:p>
        </p:txBody>
      </p:sp>
      <p:sp>
        <p:nvSpPr>
          <p:cNvPr id="381" name="Google Shape;381;p12"/>
          <p:cNvSpPr txBox="1"/>
          <p:nvPr/>
        </p:nvSpPr>
        <p:spPr>
          <a:xfrm>
            <a:off x="4448100" y="2216550"/>
            <a:ext cx="3467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1E293B"/>
                </a:solidFill>
                <a:latin typeface="Plus Jakarta Sans"/>
                <a:ea typeface="Plus Jakarta Sans"/>
                <a:cs typeface="Plus Jakarta Sans"/>
                <a:sym typeface="Plus Jakarta Sans"/>
              </a:rPr>
              <a:t>Fase 2: Desarrollo e Integración</a:t>
            </a:r>
            <a:endParaRPr sz="1300"/>
          </a:p>
        </p:txBody>
      </p:sp>
      <p:sp>
        <p:nvSpPr>
          <p:cNvPr id="382" name="Google Shape;382;p12"/>
          <p:cNvSpPr txBox="1"/>
          <p:nvPr/>
        </p:nvSpPr>
        <p:spPr>
          <a:xfrm>
            <a:off x="4448100" y="2538291"/>
            <a:ext cx="3302100" cy="475800"/>
          </a:xfrm>
          <a:prstGeom prst="rect">
            <a:avLst/>
          </a:prstGeom>
          <a:noFill/>
          <a:ln>
            <a:noFill/>
          </a:ln>
        </p:spPr>
        <p:txBody>
          <a:bodyPr anchorCtr="0" anchor="t" bIns="0" lIns="0" spcFirstLastPara="1" rIns="0" wrap="square" tIns="0">
            <a:spAutoFit/>
          </a:bodyPr>
          <a:lstStyle/>
          <a:p>
            <a:pPr indent="0" lvl="0" marL="0" marR="0" rtl="0" algn="l">
              <a:lnSpc>
                <a:spcPct val="155039"/>
              </a:lnSpc>
              <a:spcBef>
                <a:spcPts val="0"/>
              </a:spcBef>
              <a:spcAft>
                <a:spcPts val="0"/>
              </a:spcAft>
              <a:buNone/>
            </a:pPr>
            <a:r>
              <a:rPr b="0" i="0" lang="en-US" sz="1212" u="none" cap="none" strike="noStrike">
                <a:solidFill>
                  <a:srgbClr val="64748B"/>
                </a:solidFill>
                <a:latin typeface="Inter"/>
                <a:ea typeface="Inter"/>
                <a:cs typeface="Inter"/>
                <a:sym typeface="Inter"/>
              </a:rPr>
              <a:t>Construcción de módulos NEW-01 al NEW-13 y base de datos.</a:t>
            </a:r>
            <a:endParaRPr sz="1600"/>
          </a:p>
        </p:txBody>
      </p:sp>
      <p:sp>
        <p:nvSpPr>
          <p:cNvPr id="383" name="Google Shape;383;p12"/>
          <p:cNvSpPr txBox="1"/>
          <p:nvPr/>
        </p:nvSpPr>
        <p:spPr>
          <a:xfrm>
            <a:off x="8207350" y="2216550"/>
            <a:ext cx="34671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1E293B"/>
                </a:solidFill>
                <a:latin typeface="Plus Jakarta Sans"/>
                <a:ea typeface="Plus Jakarta Sans"/>
                <a:cs typeface="Plus Jakarta Sans"/>
                <a:sym typeface="Plus Jakarta Sans"/>
              </a:rPr>
              <a:t>Fase 3: Testing &amp; Cierre</a:t>
            </a:r>
            <a:endParaRPr sz="1300"/>
          </a:p>
        </p:txBody>
      </p:sp>
      <p:sp>
        <p:nvSpPr>
          <p:cNvPr id="384" name="Google Shape;384;p12"/>
          <p:cNvSpPr txBox="1"/>
          <p:nvPr/>
        </p:nvSpPr>
        <p:spPr>
          <a:xfrm>
            <a:off x="8207350" y="2538291"/>
            <a:ext cx="3301800" cy="471000"/>
          </a:xfrm>
          <a:prstGeom prst="rect">
            <a:avLst/>
          </a:prstGeom>
          <a:noFill/>
          <a:ln>
            <a:noFill/>
          </a:ln>
        </p:spPr>
        <p:txBody>
          <a:bodyPr anchorCtr="0" anchor="t" bIns="0" lIns="0" spcFirstLastPara="1" rIns="0" wrap="square" tIns="0">
            <a:spAutoFit/>
          </a:bodyPr>
          <a:lstStyle/>
          <a:p>
            <a:pPr indent="0" lvl="0" marL="0" marR="0" rtl="0" algn="l">
              <a:lnSpc>
                <a:spcPct val="155039"/>
              </a:lnSpc>
              <a:spcBef>
                <a:spcPts val="0"/>
              </a:spcBef>
              <a:spcAft>
                <a:spcPts val="0"/>
              </a:spcAft>
              <a:buNone/>
            </a:pPr>
            <a:r>
              <a:rPr b="0" i="0" lang="en-US" sz="1200" u="none" cap="none" strike="noStrike">
                <a:solidFill>
                  <a:srgbClr val="64748B"/>
                </a:solidFill>
                <a:latin typeface="Inter"/>
                <a:ea typeface="Inter"/>
                <a:cs typeface="Inter"/>
                <a:sym typeface="Inter"/>
              </a:rPr>
              <a:t>Pruebas funcionales, seguridad, corrección y entrega.</a:t>
            </a:r>
            <a:endParaRPr sz="1200"/>
          </a:p>
        </p:txBody>
      </p:sp>
      <p:sp>
        <p:nvSpPr>
          <p:cNvPr id="385" name="Google Shape;385;p12"/>
          <p:cNvSpPr/>
          <p:nvPr/>
        </p:nvSpPr>
        <p:spPr>
          <a:xfrm>
            <a:off x="527075" y="4167686"/>
            <a:ext cx="4220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6" name="Google Shape;386;p12"/>
          <p:cNvSpPr/>
          <p:nvPr/>
        </p:nvSpPr>
        <p:spPr>
          <a:xfrm>
            <a:off x="4747394" y="4167686"/>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7" name="Google Shape;387;p12"/>
          <p:cNvSpPr/>
          <p:nvPr/>
        </p:nvSpPr>
        <p:spPr>
          <a:xfrm>
            <a:off x="6080001" y="4167686"/>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8" name="Google Shape;388;p12"/>
          <p:cNvSpPr/>
          <p:nvPr/>
        </p:nvSpPr>
        <p:spPr>
          <a:xfrm>
            <a:off x="7412608" y="4167686"/>
            <a:ext cx="422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89" name="Google Shape;389;p12"/>
          <p:cNvSpPr/>
          <p:nvPr/>
        </p:nvSpPr>
        <p:spPr>
          <a:xfrm>
            <a:off x="527075" y="4691561"/>
            <a:ext cx="4220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0" name="Google Shape;390;p12"/>
          <p:cNvSpPr/>
          <p:nvPr/>
        </p:nvSpPr>
        <p:spPr>
          <a:xfrm>
            <a:off x="4747394" y="46915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1" name="Google Shape;391;p12"/>
          <p:cNvSpPr/>
          <p:nvPr/>
        </p:nvSpPr>
        <p:spPr>
          <a:xfrm>
            <a:off x="6080001" y="46915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2" name="Google Shape;392;p12"/>
          <p:cNvSpPr/>
          <p:nvPr/>
        </p:nvSpPr>
        <p:spPr>
          <a:xfrm>
            <a:off x="7412608" y="4691561"/>
            <a:ext cx="422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3" name="Google Shape;393;p12"/>
          <p:cNvSpPr/>
          <p:nvPr/>
        </p:nvSpPr>
        <p:spPr>
          <a:xfrm>
            <a:off x="527075" y="5110661"/>
            <a:ext cx="4220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4" name="Google Shape;394;p12"/>
          <p:cNvSpPr/>
          <p:nvPr/>
        </p:nvSpPr>
        <p:spPr>
          <a:xfrm>
            <a:off x="4747394" y="51106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5" name="Google Shape;395;p12"/>
          <p:cNvSpPr/>
          <p:nvPr/>
        </p:nvSpPr>
        <p:spPr>
          <a:xfrm>
            <a:off x="6080001" y="51106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6" name="Google Shape;396;p12"/>
          <p:cNvSpPr/>
          <p:nvPr/>
        </p:nvSpPr>
        <p:spPr>
          <a:xfrm>
            <a:off x="7412608" y="5110661"/>
            <a:ext cx="422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7" name="Google Shape;397;p12"/>
          <p:cNvSpPr/>
          <p:nvPr/>
        </p:nvSpPr>
        <p:spPr>
          <a:xfrm>
            <a:off x="527075" y="5529761"/>
            <a:ext cx="4220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8" name="Google Shape;398;p12"/>
          <p:cNvSpPr/>
          <p:nvPr/>
        </p:nvSpPr>
        <p:spPr>
          <a:xfrm>
            <a:off x="4747394" y="55297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399" name="Google Shape;399;p12"/>
          <p:cNvSpPr/>
          <p:nvPr/>
        </p:nvSpPr>
        <p:spPr>
          <a:xfrm>
            <a:off x="6080001" y="55297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0" name="Google Shape;400;p12"/>
          <p:cNvSpPr/>
          <p:nvPr/>
        </p:nvSpPr>
        <p:spPr>
          <a:xfrm>
            <a:off x="7412608" y="5529761"/>
            <a:ext cx="422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1" name="Google Shape;401;p12"/>
          <p:cNvSpPr/>
          <p:nvPr/>
        </p:nvSpPr>
        <p:spPr>
          <a:xfrm>
            <a:off x="527075" y="5948861"/>
            <a:ext cx="4220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2" name="Google Shape;402;p12"/>
          <p:cNvSpPr/>
          <p:nvPr/>
        </p:nvSpPr>
        <p:spPr>
          <a:xfrm>
            <a:off x="4747394" y="59488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3" name="Google Shape;403;p12"/>
          <p:cNvSpPr/>
          <p:nvPr/>
        </p:nvSpPr>
        <p:spPr>
          <a:xfrm>
            <a:off x="6080001" y="5948861"/>
            <a:ext cx="1332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404" name="Google Shape;404;p12"/>
          <p:cNvSpPr/>
          <p:nvPr/>
        </p:nvSpPr>
        <p:spPr>
          <a:xfrm>
            <a:off x="7412608" y="5948861"/>
            <a:ext cx="42207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image.png" id="405" name="Google Shape;405;p12"/>
          <p:cNvPicPr preferRelativeResize="0"/>
          <p:nvPr/>
        </p:nvPicPr>
        <p:blipFill rotWithShape="1">
          <a:blip r:embed="rId6">
            <a:alphaModFix/>
          </a:blip>
          <a:srcRect b="0" l="0" r="0" t="0"/>
          <a:stretch/>
        </p:blipFill>
        <p:spPr>
          <a:xfrm>
            <a:off x="3428925" y="2216550"/>
            <a:ext cx="561975" cy="219075"/>
          </a:xfrm>
          <a:prstGeom prst="rect">
            <a:avLst/>
          </a:prstGeom>
          <a:noFill/>
          <a:ln>
            <a:noFill/>
          </a:ln>
        </p:spPr>
      </p:pic>
      <p:pic>
        <p:nvPicPr>
          <p:cNvPr descr="image.png" id="406" name="Google Shape;406;p12"/>
          <p:cNvPicPr preferRelativeResize="0"/>
          <p:nvPr/>
        </p:nvPicPr>
        <p:blipFill rotWithShape="1">
          <a:blip r:embed="rId7">
            <a:alphaModFix/>
          </a:blip>
          <a:srcRect b="0" l="0" r="0" t="0"/>
          <a:stretch/>
        </p:blipFill>
        <p:spPr>
          <a:xfrm>
            <a:off x="7140550" y="2216550"/>
            <a:ext cx="609600" cy="219075"/>
          </a:xfrm>
          <a:prstGeom prst="rect">
            <a:avLst/>
          </a:prstGeom>
          <a:noFill/>
          <a:ln>
            <a:noFill/>
          </a:ln>
        </p:spPr>
      </p:pic>
      <p:pic>
        <p:nvPicPr>
          <p:cNvPr descr="image.png" id="407" name="Google Shape;407;p12"/>
          <p:cNvPicPr preferRelativeResize="0"/>
          <p:nvPr/>
        </p:nvPicPr>
        <p:blipFill rotWithShape="1">
          <a:blip r:embed="rId8">
            <a:alphaModFix/>
          </a:blip>
          <a:srcRect b="0" l="0" r="0" t="0"/>
          <a:stretch/>
        </p:blipFill>
        <p:spPr>
          <a:xfrm>
            <a:off x="10832976" y="2216550"/>
            <a:ext cx="676275" cy="219075"/>
          </a:xfrm>
          <a:prstGeom prst="rect">
            <a:avLst/>
          </a:prstGeom>
          <a:noFill/>
          <a:ln>
            <a:noFill/>
          </a:ln>
        </p:spPr>
      </p:pic>
      <p:pic>
        <p:nvPicPr>
          <p:cNvPr descr="image.png" id="408" name="Google Shape;408;p12"/>
          <p:cNvPicPr preferRelativeResize="0"/>
          <p:nvPr/>
        </p:nvPicPr>
        <p:blipFill rotWithShape="1">
          <a:blip r:embed="rId9">
            <a:alphaModFix/>
          </a:blip>
          <a:srcRect b="0" l="0" r="0" t="0"/>
          <a:stretch/>
        </p:blipFill>
        <p:spPr>
          <a:xfrm>
            <a:off x="4747394" y="3853361"/>
            <a:ext cx="533400" cy="219075"/>
          </a:xfrm>
          <a:prstGeom prst="rect">
            <a:avLst/>
          </a:prstGeom>
          <a:noFill/>
          <a:ln>
            <a:noFill/>
          </a:ln>
        </p:spPr>
      </p:pic>
      <p:pic>
        <p:nvPicPr>
          <p:cNvPr descr="image.png" id="409" name="Google Shape;409;p12"/>
          <p:cNvPicPr preferRelativeResize="0"/>
          <p:nvPr/>
        </p:nvPicPr>
        <p:blipFill rotWithShape="1">
          <a:blip r:embed="rId10">
            <a:alphaModFix/>
          </a:blip>
          <a:srcRect b="0" l="0" r="0" t="0"/>
          <a:stretch/>
        </p:blipFill>
        <p:spPr>
          <a:xfrm>
            <a:off x="4747394" y="4324849"/>
            <a:ext cx="552450" cy="219075"/>
          </a:xfrm>
          <a:prstGeom prst="rect">
            <a:avLst/>
          </a:prstGeom>
          <a:noFill/>
          <a:ln>
            <a:noFill/>
          </a:ln>
        </p:spPr>
      </p:pic>
      <p:pic>
        <p:nvPicPr>
          <p:cNvPr descr="image.png" id="410" name="Google Shape;410;p12"/>
          <p:cNvPicPr preferRelativeResize="0"/>
          <p:nvPr/>
        </p:nvPicPr>
        <p:blipFill rotWithShape="1">
          <a:blip r:embed="rId11">
            <a:alphaModFix/>
          </a:blip>
          <a:srcRect b="0" l="0" r="0" t="0"/>
          <a:stretch/>
        </p:blipFill>
        <p:spPr>
          <a:xfrm>
            <a:off x="4747394" y="4796336"/>
            <a:ext cx="552450" cy="219075"/>
          </a:xfrm>
          <a:prstGeom prst="rect">
            <a:avLst/>
          </a:prstGeom>
          <a:noFill/>
          <a:ln>
            <a:noFill/>
          </a:ln>
        </p:spPr>
      </p:pic>
      <p:pic>
        <p:nvPicPr>
          <p:cNvPr descr="image.png" id="411" name="Google Shape;411;p12"/>
          <p:cNvPicPr preferRelativeResize="0"/>
          <p:nvPr/>
        </p:nvPicPr>
        <p:blipFill rotWithShape="1">
          <a:blip r:embed="rId12">
            <a:alphaModFix/>
          </a:blip>
          <a:srcRect b="0" l="0" r="0" t="0"/>
          <a:stretch/>
        </p:blipFill>
        <p:spPr>
          <a:xfrm>
            <a:off x="4747394" y="5215436"/>
            <a:ext cx="552450" cy="219075"/>
          </a:xfrm>
          <a:prstGeom prst="rect">
            <a:avLst/>
          </a:prstGeom>
          <a:noFill/>
          <a:ln>
            <a:noFill/>
          </a:ln>
        </p:spPr>
      </p:pic>
      <p:pic>
        <p:nvPicPr>
          <p:cNvPr descr="image.png" id="412" name="Google Shape;412;p12"/>
          <p:cNvPicPr preferRelativeResize="0"/>
          <p:nvPr/>
        </p:nvPicPr>
        <p:blipFill rotWithShape="1">
          <a:blip r:embed="rId13">
            <a:alphaModFix/>
          </a:blip>
          <a:srcRect b="0" l="0" r="0" t="0"/>
          <a:stretch/>
        </p:blipFill>
        <p:spPr>
          <a:xfrm>
            <a:off x="4747394" y="5634536"/>
            <a:ext cx="561975" cy="219075"/>
          </a:xfrm>
          <a:prstGeom prst="rect">
            <a:avLst/>
          </a:prstGeom>
          <a:noFill/>
          <a:ln>
            <a:noFill/>
          </a:ln>
        </p:spPr>
      </p:pic>
      <p:pic>
        <p:nvPicPr>
          <p:cNvPr descr="image.png" id="413" name="Google Shape;413;p12"/>
          <p:cNvPicPr preferRelativeResize="0"/>
          <p:nvPr/>
        </p:nvPicPr>
        <p:blipFill rotWithShape="1">
          <a:blip r:embed="rId14">
            <a:alphaModFix/>
          </a:blip>
          <a:srcRect b="0" l="0" r="0" t="0"/>
          <a:stretch/>
        </p:blipFill>
        <p:spPr>
          <a:xfrm>
            <a:off x="4747394" y="6053636"/>
            <a:ext cx="561975" cy="219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 name="Shape 417"/>
        <p:cNvGrpSpPr/>
        <p:nvPr/>
      </p:nvGrpSpPr>
      <p:grpSpPr>
        <a:xfrm>
          <a:off x="0" y="0"/>
          <a:ext cx="0" cy="0"/>
          <a:chOff x="0" y="0"/>
          <a:chExt cx="0" cy="0"/>
        </a:xfrm>
      </p:grpSpPr>
      <p:pic>
        <p:nvPicPr>
          <p:cNvPr descr="image.png" id="418" name="Google Shape;418;p14"/>
          <p:cNvPicPr preferRelativeResize="0"/>
          <p:nvPr/>
        </p:nvPicPr>
        <p:blipFill rotWithShape="1">
          <a:blip r:embed="rId3">
            <a:alphaModFix/>
          </a:blip>
          <a:srcRect b="0" l="0" r="0" t="0"/>
          <a:stretch/>
        </p:blipFill>
        <p:spPr>
          <a:xfrm>
            <a:off x="1659963" y="1786100"/>
            <a:ext cx="8872075" cy="3960550"/>
          </a:xfrm>
          <a:prstGeom prst="rect">
            <a:avLst/>
          </a:prstGeom>
          <a:noFill/>
          <a:ln>
            <a:noFill/>
          </a:ln>
        </p:spPr>
      </p:pic>
      <p:sp>
        <p:nvSpPr>
          <p:cNvPr id="419" name="Google Shape;419;p14"/>
          <p:cNvSpPr txBox="1"/>
          <p:nvPr/>
        </p:nvSpPr>
        <p:spPr>
          <a:xfrm>
            <a:off x="533400" y="457200"/>
            <a:ext cx="11658600" cy="5619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F172A"/>
                </a:solidFill>
                <a:latin typeface="Poppins"/>
                <a:ea typeface="Poppins"/>
                <a:cs typeface="Poppins"/>
                <a:sym typeface="Poppins"/>
              </a:rPr>
              <a:t>Entregables y Criterios de Éxito</a:t>
            </a:r>
            <a:endParaRPr b="0" i="0" sz="1400" u="none" cap="none" strike="noStrike">
              <a:solidFill>
                <a:srgbClr val="000000"/>
              </a:solidFill>
              <a:latin typeface="Arial"/>
              <a:ea typeface="Arial"/>
              <a:cs typeface="Arial"/>
              <a:sym typeface="Arial"/>
            </a:endParaRPr>
          </a:p>
        </p:txBody>
      </p:sp>
      <p:sp>
        <p:nvSpPr>
          <p:cNvPr id="420" name="Google Shape;420;p14"/>
          <p:cNvSpPr/>
          <p:nvPr/>
        </p:nvSpPr>
        <p:spPr>
          <a:xfrm>
            <a:off x="533400" y="1076325"/>
            <a:ext cx="11125200" cy="3810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421" name="Google Shape;421;p14"/>
          <p:cNvPicPr preferRelativeResize="0"/>
          <p:nvPr/>
        </p:nvPicPr>
        <p:blipFill rotWithShape="1">
          <a:blip r:embed="rId4">
            <a:alphaModFix/>
          </a:blip>
          <a:srcRect b="0" l="0" r="0" t="0"/>
          <a:stretch/>
        </p:blipFill>
        <p:spPr>
          <a:xfrm>
            <a:off x="1941251" y="2101158"/>
            <a:ext cx="270037" cy="270038"/>
          </a:xfrm>
          <a:prstGeom prst="rect">
            <a:avLst/>
          </a:prstGeom>
          <a:noFill/>
          <a:ln>
            <a:noFill/>
          </a:ln>
        </p:spPr>
      </p:pic>
      <p:sp>
        <p:nvSpPr>
          <p:cNvPr id="422" name="Google Shape;422;p14"/>
          <p:cNvSpPr txBox="1"/>
          <p:nvPr/>
        </p:nvSpPr>
        <p:spPr>
          <a:xfrm>
            <a:off x="2346308" y="2067403"/>
            <a:ext cx="2882400" cy="27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72"/>
              <a:buFont typeface="Arial"/>
              <a:buNone/>
            </a:pPr>
            <a:r>
              <a:rPr b="1" i="0" lang="en-US" sz="1772" u="none" cap="none" strike="noStrike">
                <a:solidFill>
                  <a:srgbClr val="0F172A"/>
                </a:solidFill>
                <a:latin typeface="Poppins"/>
                <a:ea typeface="Poppins"/>
                <a:cs typeface="Poppins"/>
                <a:sym typeface="Poppins"/>
              </a:rPr>
              <a:t>Entregables Principales</a:t>
            </a:r>
            <a:endParaRPr b="0" i="0" sz="1654" u="none" cap="none" strike="noStrike">
              <a:solidFill>
                <a:srgbClr val="000000"/>
              </a:solidFill>
              <a:latin typeface="Arial"/>
              <a:ea typeface="Arial"/>
              <a:cs typeface="Arial"/>
              <a:sym typeface="Arial"/>
            </a:endParaRPr>
          </a:p>
        </p:txBody>
      </p:sp>
      <p:sp>
        <p:nvSpPr>
          <p:cNvPr id="423" name="Google Shape;423;p14"/>
          <p:cNvSpPr txBox="1"/>
          <p:nvPr/>
        </p:nvSpPr>
        <p:spPr>
          <a:xfrm>
            <a:off x="2301301" y="2539955"/>
            <a:ext cx="7626000" cy="5796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506"/>
              <a:buFont typeface="Arial"/>
              <a:buNone/>
            </a:pPr>
            <a:r>
              <a:rPr b="1" i="0" lang="en-US" sz="1506" u="none" cap="none" strike="noStrike">
                <a:solidFill>
                  <a:srgbClr val="334155"/>
                </a:solidFill>
                <a:latin typeface="Lato"/>
                <a:ea typeface="Lato"/>
                <a:cs typeface="Lato"/>
                <a:sym typeface="Lato"/>
              </a:rPr>
              <a:t>Plataforma Web Evolucionada:</a:t>
            </a:r>
            <a:r>
              <a:rPr b="0" i="0" lang="en-US" sz="1506" u="none" cap="none" strike="noStrike">
                <a:solidFill>
                  <a:srgbClr val="334155"/>
                </a:solidFill>
                <a:latin typeface="Lato"/>
                <a:ea typeface="Lato"/>
                <a:cs typeface="Lato"/>
                <a:sym typeface="Lato"/>
              </a:rPr>
              <a:t> CoreStream Web funcional con soporte completo de i18n y temas visuales.</a:t>
            </a:r>
            <a:endParaRPr b="0" i="0" sz="1654" u="none" cap="none" strike="noStrike">
              <a:solidFill>
                <a:srgbClr val="000000"/>
              </a:solidFill>
              <a:latin typeface="Arial"/>
              <a:ea typeface="Arial"/>
              <a:cs typeface="Arial"/>
              <a:sym typeface="Arial"/>
            </a:endParaRPr>
          </a:p>
        </p:txBody>
      </p:sp>
      <p:sp>
        <p:nvSpPr>
          <p:cNvPr id="424" name="Google Shape;424;p14"/>
          <p:cNvSpPr txBox="1"/>
          <p:nvPr/>
        </p:nvSpPr>
        <p:spPr>
          <a:xfrm>
            <a:off x="2301301" y="3271306"/>
            <a:ext cx="7626000" cy="5796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506"/>
              <a:buFont typeface="Arial"/>
              <a:buNone/>
            </a:pPr>
            <a:r>
              <a:rPr b="1" i="0" lang="en-US" sz="1506" u="none" cap="none" strike="noStrike">
                <a:solidFill>
                  <a:srgbClr val="334155"/>
                </a:solidFill>
                <a:latin typeface="Lato"/>
                <a:ea typeface="Lato"/>
                <a:cs typeface="Lato"/>
                <a:sym typeface="Lato"/>
              </a:rPr>
              <a:t>Nuevos Módulos Desplegados:</a:t>
            </a:r>
            <a:r>
              <a:rPr b="0" i="0" lang="en-US" sz="1506" u="none" cap="none" strike="noStrike">
                <a:solidFill>
                  <a:srgbClr val="334155"/>
                </a:solidFill>
                <a:latin typeface="Lato"/>
                <a:ea typeface="Lato"/>
                <a:cs typeface="Lato"/>
                <a:sym typeface="Lato"/>
              </a:rPr>
              <a:t> Kanban interactivo, gestión de Sprints, SLA dinámico y Comentarios con menciones.</a:t>
            </a:r>
            <a:endParaRPr b="0" i="0" sz="1654" u="none" cap="none" strike="noStrike">
              <a:solidFill>
                <a:srgbClr val="000000"/>
              </a:solidFill>
              <a:latin typeface="Arial"/>
              <a:ea typeface="Arial"/>
              <a:cs typeface="Arial"/>
              <a:sym typeface="Arial"/>
            </a:endParaRPr>
          </a:p>
        </p:txBody>
      </p:sp>
      <p:sp>
        <p:nvSpPr>
          <p:cNvPr id="425" name="Google Shape;425;p14"/>
          <p:cNvSpPr txBox="1"/>
          <p:nvPr/>
        </p:nvSpPr>
        <p:spPr>
          <a:xfrm>
            <a:off x="2301301" y="4002658"/>
            <a:ext cx="7626000" cy="2319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506"/>
              <a:buFont typeface="Arial"/>
              <a:buNone/>
            </a:pPr>
            <a:r>
              <a:rPr b="1" i="0" lang="en-US" sz="1506" u="none" cap="none" strike="noStrike">
                <a:solidFill>
                  <a:srgbClr val="334155"/>
                </a:solidFill>
                <a:latin typeface="Lato"/>
                <a:ea typeface="Lato"/>
                <a:cs typeface="Lato"/>
                <a:sym typeface="Lato"/>
              </a:rPr>
              <a:t>Generador de Reportes:</a:t>
            </a:r>
            <a:r>
              <a:rPr b="0" i="0" lang="en-US" sz="1506" u="none" cap="none" strike="noStrike">
                <a:solidFill>
                  <a:srgbClr val="334155"/>
                </a:solidFill>
                <a:latin typeface="Lato"/>
                <a:ea typeface="Lato"/>
                <a:cs typeface="Lato"/>
                <a:sym typeface="Lato"/>
              </a:rPr>
              <a:t> Exportación lista para uso gerencial en formatos PDF y Excel.</a:t>
            </a:r>
            <a:endParaRPr b="0" i="0" sz="1654" u="none" cap="none" strike="noStrike">
              <a:solidFill>
                <a:srgbClr val="000000"/>
              </a:solidFill>
              <a:latin typeface="Arial"/>
              <a:ea typeface="Arial"/>
              <a:cs typeface="Arial"/>
              <a:sym typeface="Arial"/>
            </a:endParaRPr>
          </a:p>
        </p:txBody>
      </p:sp>
      <p:sp>
        <p:nvSpPr>
          <p:cNvPr id="426" name="Google Shape;426;p14"/>
          <p:cNvSpPr txBox="1"/>
          <p:nvPr/>
        </p:nvSpPr>
        <p:spPr>
          <a:xfrm>
            <a:off x="2301301" y="4734009"/>
            <a:ext cx="7626000" cy="579600"/>
          </a:xfrm>
          <a:prstGeom prst="rect">
            <a:avLst/>
          </a:prstGeom>
          <a:noFill/>
          <a:ln>
            <a:noFill/>
          </a:ln>
        </p:spPr>
        <p:txBody>
          <a:bodyPr anchorCtr="0" anchor="t" bIns="0" lIns="0" spcFirstLastPara="1" rIns="0" wrap="square" tIns="0">
            <a:spAutoFit/>
          </a:bodyPr>
          <a:lstStyle/>
          <a:p>
            <a:pPr indent="0" lvl="0" marL="0" marR="0" rtl="0" algn="l">
              <a:lnSpc>
                <a:spcPct val="149960"/>
              </a:lnSpc>
              <a:spcBef>
                <a:spcPts val="0"/>
              </a:spcBef>
              <a:spcAft>
                <a:spcPts val="0"/>
              </a:spcAft>
              <a:buClr>
                <a:srgbClr val="000000"/>
              </a:buClr>
              <a:buSzPts val="1506"/>
              <a:buFont typeface="Arial"/>
              <a:buNone/>
            </a:pPr>
            <a:r>
              <a:rPr b="1" i="0" lang="en-US" sz="1506" u="none" cap="none" strike="noStrike">
                <a:solidFill>
                  <a:srgbClr val="334155"/>
                </a:solidFill>
                <a:latin typeface="Lato"/>
                <a:ea typeface="Lato"/>
                <a:cs typeface="Lato"/>
                <a:sym typeface="Lato"/>
              </a:rPr>
              <a:t>Documentación Técnica &amp; Usuario:</a:t>
            </a:r>
            <a:r>
              <a:rPr b="0" i="0" lang="en-US" sz="1506" u="none" cap="none" strike="noStrike">
                <a:solidFill>
                  <a:srgbClr val="334155"/>
                </a:solidFill>
                <a:latin typeface="Lato"/>
                <a:ea typeface="Lato"/>
                <a:cs typeface="Lato"/>
                <a:sym typeface="Lato"/>
              </a:rPr>
              <a:t> Manuales de arquitectura, diagramas de base de datos y guía de usuario.</a:t>
            </a:r>
            <a:endParaRPr b="0" i="0" sz="1654" u="none" cap="none" strike="noStrike">
              <a:solidFill>
                <a:srgbClr val="000000"/>
              </a:solidFill>
              <a:latin typeface="Arial"/>
              <a:ea typeface="Arial"/>
              <a:cs typeface="Arial"/>
              <a:sym typeface="Arial"/>
            </a:endParaRPr>
          </a:p>
        </p:txBody>
      </p:sp>
      <p:pic>
        <p:nvPicPr>
          <p:cNvPr descr="image.png" id="427" name="Google Shape;427;p14"/>
          <p:cNvPicPr preferRelativeResize="0"/>
          <p:nvPr/>
        </p:nvPicPr>
        <p:blipFill rotWithShape="1">
          <a:blip r:embed="rId5">
            <a:alphaModFix/>
          </a:blip>
          <a:srcRect b="0" l="0" r="0" t="0"/>
          <a:stretch/>
        </p:blipFill>
        <p:spPr>
          <a:xfrm>
            <a:off x="1941251" y="2573724"/>
            <a:ext cx="168773" cy="191276"/>
          </a:xfrm>
          <a:prstGeom prst="rect">
            <a:avLst/>
          </a:prstGeom>
          <a:noFill/>
          <a:ln>
            <a:noFill/>
          </a:ln>
        </p:spPr>
      </p:pic>
      <p:pic>
        <p:nvPicPr>
          <p:cNvPr descr="image.png" id="428" name="Google Shape;428;p14"/>
          <p:cNvPicPr preferRelativeResize="0"/>
          <p:nvPr/>
        </p:nvPicPr>
        <p:blipFill rotWithShape="1">
          <a:blip r:embed="rId5">
            <a:alphaModFix/>
          </a:blip>
          <a:srcRect b="0" l="0" r="0" t="0"/>
          <a:stretch/>
        </p:blipFill>
        <p:spPr>
          <a:xfrm>
            <a:off x="1941251" y="3305075"/>
            <a:ext cx="168773" cy="191276"/>
          </a:xfrm>
          <a:prstGeom prst="rect">
            <a:avLst/>
          </a:prstGeom>
          <a:noFill/>
          <a:ln>
            <a:noFill/>
          </a:ln>
        </p:spPr>
      </p:pic>
      <p:pic>
        <p:nvPicPr>
          <p:cNvPr descr="image.png" id="429" name="Google Shape;429;p14"/>
          <p:cNvPicPr preferRelativeResize="0"/>
          <p:nvPr/>
        </p:nvPicPr>
        <p:blipFill rotWithShape="1">
          <a:blip r:embed="rId5">
            <a:alphaModFix/>
          </a:blip>
          <a:srcRect b="0" l="0" r="0" t="0"/>
          <a:stretch/>
        </p:blipFill>
        <p:spPr>
          <a:xfrm>
            <a:off x="1941251" y="4036427"/>
            <a:ext cx="168773" cy="191276"/>
          </a:xfrm>
          <a:prstGeom prst="rect">
            <a:avLst/>
          </a:prstGeom>
          <a:noFill/>
          <a:ln>
            <a:noFill/>
          </a:ln>
        </p:spPr>
      </p:pic>
      <p:pic>
        <p:nvPicPr>
          <p:cNvPr descr="image.png" id="430" name="Google Shape;430;p14"/>
          <p:cNvPicPr preferRelativeResize="0"/>
          <p:nvPr/>
        </p:nvPicPr>
        <p:blipFill rotWithShape="1">
          <a:blip r:embed="rId5">
            <a:alphaModFix/>
          </a:blip>
          <a:srcRect b="0" l="0" r="0" t="0"/>
          <a:stretch/>
        </p:blipFill>
        <p:spPr>
          <a:xfrm>
            <a:off x="1941251" y="4767778"/>
            <a:ext cx="168773" cy="1912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
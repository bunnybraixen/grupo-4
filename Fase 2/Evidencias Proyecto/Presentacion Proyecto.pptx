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B0F0EB-AF2E-4C0E-9CD3-8938E43AAEB3}">
  <a:tblStyle styleId="{8BB0F0EB-AF2E-4C0E-9CD3-8938E43AAEB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“Aquí mostramos cómo funciona un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es una tarea del proyecto. En el detalle se ve quién lo tiene asignado, en qué estado está, su prioridad, a qué épica pertenece y sus subtareas. En este ejemplo las dos subtareas están completadas.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Después le sigue el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historial de eventos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cambio queda registrado con quién lo hizo y a qué hora: cuándo se creó el ticket, cuándo pasó de ‘Por hacer’ a ‘En progreso’ y cuándo llegó a ‘Hecho’. También se pueden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subir archivos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 ticket, como código, documentos o datos, con un máximo de 25 MB cada uno.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último, el sistema mide el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tiempo trabajado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el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tiempo bloqueado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cada ticket.”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“Así se ven los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osea un período de trabajo del equipo, en este caso de 14 días. El panel muestra cuántos tickets están pendientes, completados y bloqueados, y calcula la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velocity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es cuántos puntos de trabajo terminó el equipo.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SLA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el tiempo máximo que nos damos para responder y resolver un ticket. Depende de la prioridad: uno urgente debe resolverse más rápido que uno de prioridad baja. El administrador puede configurar esos tiempos.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avisa cuando un ticket está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vencer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ya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incumplió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 plazo. Así el equipo sabe qué atender primero.”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1d210ba72b8e8b6a_1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h1d210ba72b8e8b6a_1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“La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búsqueda global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escribir una palabra y encontrar al mismo tiempo tickets, proyectos, documentos y usuarios.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Además, en la lista de tickets se pueden usar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filtros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por responsable, sprint, estado y prioridad. También hay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etiquetas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reutilizables, que sirven para agrupar tickets por tema. Todo esto sirve para encontrar rápido lo que se necesita cuando hay muchos tickets.”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h1d210ba72b8e8b6a_1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“Aquí mostramos que el proyecto funciona en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Con un solo comando se levantan los cuatro servicios: la base de datos, Redis, el backend y el frontend. Todos aparecen funcionando.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También mostramos el repositorio en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donde trabajamos en equipo con ramas y pull requests. Los commits muestran el avance de cada integrante, como por ejemplo aquí mi colega Pablo con el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cálculo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velocity del sprint, o yo resolviendo la sección de analíticas.”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“Ya para finalizar, hasta ahora completamos la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arquitectura y la base de datos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 los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proyectos, aplicaciones y épicas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También avanzamos en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tickets, Kanban, sprints, SLA y filtros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Las pruebas y la documentación están en preparación.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vamos a avanzar en los reportes y la seguridad, corregir errores y ejecutar las pruebas pendientes, verificar que todo funcione bien en Docker y terminar los manuales.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Además de mencionar que gracias a este proyecto aprendimos acerca de arquitectura, frontend, backend, bases de datos, integración y trabajo en equipo en entornos laborales. Muchas gracias.”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solidFill>
          <a:srgbClr val="0B1F3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4F7FA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CoreStream Web — Avances APT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  <a:defRPr b="1" i="0" sz="2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/>
        </p:nvSpPr>
        <p:spPr>
          <a:xfrm>
            <a:off x="548640" y="82296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CoreStream Web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 txBox="1"/>
          <p:nvPr/>
        </p:nvSpPr>
        <p:spPr>
          <a:xfrm>
            <a:off x="548640" y="155448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EA5A4"/>
                </a:solidFill>
                <a:latin typeface="Calibri"/>
                <a:ea typeface="Calibri"/>
                <a:cs typeface="Calibri"/>
                <a:sym typeface="Calibri"/>
              </a:rPr>
              <a:t>Avances del Proyecto APT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/>
          <p:nvPr/>
        </p:nvSpPr>
        <p:spPr>
          <a:xfrm>
            <a:off x="548640" y="2560320"/>
            <a:ext cx="5669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DUOC UC — Ingeniería Informática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Integrantes: Pablo Figueroa · Diego Jeldres · Diego Fevre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Docente: </a:t>
            </a:r>
            <a:r>
              <a:rPr lang="en-US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Jose Luis Pino Cofre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Fecha de presentación: 21/</a:t>
            </a:r>
            <a:r>
              <a:rPr lang="en-US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10/2026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0325" y="1771688"/>
            <a:ext cx="3976175" cy="7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Contexto y problema a solucionar</a:t>
            </a:r>
            <a:endParaRPr sz="2400"/>
          </a:p>
        </p:txBody>
      </p:sp>
      <p:sp>
        <p:nvSpPr>
          <p:cNvPr id="34" name="Google Shape;34;p6"/>
          <p:cNvSpPr/>
          <p:nvPr/>
        </p:nvSpPr>
        <p:spPr>
          <a:xfrm>
            <a:off x="457200" y="1005840"/>
            <a:ext cx="512064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457200" y="1005840"/>
            <a:ext cx="64008" cy="1051560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640080" y="1060704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A4"/>
                </a:solidFill>
                <a:latin typeface="Calibri"/>
                <a:ea typeface="Calibri"/>
                <a:cs typeface="Calibri"/>
                <a:sym typeface="Calibri"/>
              </a:rPr>
              <a:t>¿Qué es CoreStream Web?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640080" y="1389888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Plataforma de inteligencia operacional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Centraliza la gestión de proyectos de desarrollo de software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457200" y="2194560"/>
            <a:ext cx="512064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457200" y="2194560"/>
            <a:ext cx="64008" cy="10515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/>
        </p:nvSpPr>
        <p:spPr>
          <a:xfrm>
            <a:off x="640080" y="2249424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640080" y="2578608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Proyectos, tickets, responsables, tiempos y avances dispersos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Menor trazabilidad y toma de decisiones más lenta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457200" y="3383280"/>
            <a:ext cx="512064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457200" y="3383280"/>
            <a:ext cx="64008" cy="109728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 txBox="1"/>
          <p:nvPr/>
        </p:nvSpPr>
        <p:spPr>
          <a:xfrm>
            <a:off x="640080" y="3438144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640080" y="3767328"/>
            <a:ext cx="4800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que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centralice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esa información y facilite el seguimiento del trabajo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8338" y="1203988"/>
            <a:ext cx="3264625" cy="30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Valor y objetivos del proyecto</a:t>
            </a:r>
            <a:endParaRPr sz="2400"/>
          </a:p>
        </p:txBody>
      </p:sp>
      <p:sp>
        <p:nvSpPr>
          <p:cNvPr id="54" name="Google Shape;54;p7"/>
          <p:cNvSpPr/>
          <p:nvPr/>
        </p:nvSpPr>
        <p:spPr>
          <a:xfrm>
            <a:off x="457200" y="1005840"/>
            <a:ext cx="265176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457200" y="1005840"/>
            <a:ext cx="64008" cy="2011680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 txBox="1"/>
          <p:nvPr/>
        </p:nvSpPr>
        <p:spPr>
          <a:xfrm>
            <a:off x="640080" y="106070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A4"/>
                </a:solidFill>
                <a:latin typeface="Calibri"/>
                <a:ea typeface="Calibri"/>
                <a:cs typeface="Calibri"/>
                <a:sym typeface="Calibri"/>
              </a:rPr>
              <a:t>Centralización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 txBox="1"/>
          <p:nvPr/>
        </p:nvSpPr>
        <p:spPr>
          <a:xfrm>
            <a:off x="640080" y="1389888"/>
            <a:ext cx="2331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Proyectos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Aplicaciones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Épicas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Tickets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3291840" y="1005840"/>
            <a:ext cx="265176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3291840" y="1005840"/>
            <a:ext cx="64008" cy="201168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 txBox="1"/>
          <p:nvPr/>
        </p:nvSpPr>
        <p:spPr>
          <a:xfrm>
            <a:off x="3474720" y="106070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Seguimiento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/>
          <p:nvPr/>
        </p:nvSpPr>
        <p:spPr>
          <a:xfrm>
            <a:off x="3474720" y="1389888"/>
            <a:ext cx="2331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Responsables y estados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Subtareas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Sprints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Tiempos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Limites de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Atención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126480" y="1005840"/>
            <a:ext cx="265176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6126480" y="1005840"/>
            <a:ext cx="64008" cy="20116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6309360" y="106070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Trazabilidad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6309360" y="1389888"/>
            <a:ext cx="2331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Comentarios y etiquetas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Historial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Búsquedas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Indicadores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57200" y="3200400"/>
            <a:ext cx="33060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457200" y="3200400"/>
            <a:ext cx="64008" cy="1371600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 txBox="1"/>
          <p:nvPr/>
        </p:nvSpPr>
        <p:spPr>
          <a:xfrm>
            <a:off x="640080" y="3255264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A4"/>
                </a:solidFill>
                <a:latin typeface="Calibri"/>
                <a:ea typeface="Calibri"/>
                <a:cs typeface="Calibri"/>
                <a:sym typeface="Calibri"/>
              </a:rPr>
              <a:t>Relevancia profesional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640080" y="3584448"/>
            <a:ext cx="4709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Ingeniería de Software, frontend y 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Bases de datos y control de versiones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Integración y metodologías ágiles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238" y="3138825"/>
            <a:ext cx="3826500" cy="187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Arquitectura y tecnologías</a:t>
            </a:r>
            <a:endParaRPr sz="2400"/>
          </a:p>
        </p:txBody>
      </p:sp>
      <p:sp>
        <p:nvSpPr>
          <p:cNvPr id="78" name="Google Shape;78;p8"/>
          <p:cNvSpPr/>
          <p:nvPr/>
        </p:nvSpPr>
        <p:spPr>
          <a:xfrm>
            <a:off x="502925" y="1242202"/>
            <a:ext cx="1828800" cy="594300"/>
          </a:xfrm>
          <a:prstGeom prst="roundRect">
            <a:avLst>
              <a:gd fmla="val 15385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 txBox="1"/>
          <p:nvPr/>
        </p:nvSpPr>
        <p:spPr>
          <a:xfrm>
            <a:off x="2331725" y="1242202"/>
            <a:ext cx="274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2606045" y="1242202"/>
            <a:ext cx="1828800" cy="594300"/>
          </a:xfrm>
          <a:prstGeom prst="roundRect">
            <a:avLst>
              <a:gd fmla="val 15385" name="adj"/>
            </a:avLst>
          </a:prstGeom>
          <a:solidFill>
            <a:srgbClr val="0EA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4434845" y="1242202"/>
            <a:ext cx="274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4709165" y="1242202"/>
            <a:ext cx="1828800" cy="594300"/>
          </a:xfrm>
          <a:prstGeom prst="roundRect">
            <a:avLst>
              <a:gd fmla="val 15385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/ 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 txBox="1"/>
          <p:nvPr/>
        </p:nvSpPr>
        <p:spPr>
          <a:xfrm>
            <a:off x="6537965" y="1242202"/>
            <a:ext cx="274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6812285" y="1242202"/>
            <a:ext cx="1828800" cy="594300"/>
          </a:xfrm>
          <a:prstGeom prst="roundRect">
            <a:avLst>
              <a:gd fmla="val 15385" name="adj"/>
            </a:avLst>
          </a:prstGeom>
          <a:solidFill>
            <a:srgbClr val="0EA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411475" y="2255775"/>
            <a:ext cx="2011800" cy="128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411475" y="2255750"/>
            <a:ext cx="63900" cy="12801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594355" y="2310639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594355" y="2639823"/>
            <a:ext cx="16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Vue 3, TypeScript, Pinia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y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Tailwind CSS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2514595" y="2255775"/>
            <a:ext cx="2011800" cy="128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2514595" y="2255775"/>
            <a:ext cx="63900" cy="1280100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 txBox="1"/>
          <p:nvPr/>
        </p:nvSpPr>
        <p:spPr>
          <a:xfrm>
            <a:off x="2697475" y="2310639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A4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 txBox="1"/>
          <p:nvPr/>
        </p:nvSpPr>
        <p:spPr>
          <a:xfrm>
            <a:off x="2697475" y="2639823"/>
            <a:ext cx="16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FastAPI, Python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y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SQLAlchemy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617715" y="2255775"/>
            <a:ext cx="2011800" cy="128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4617715" y="2255775"/>
            <a:ext cx="63900" cy="12801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 txBox="1"/>
          <p:nvPr/>
        </p:nvSpPr>
        <p:spPr>
          <a:xfrm>
            <a:off x="4800595" y="2310639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 txBox="1"/>
          <p:nvPr/>
        </p:nvSpPr>
        <p:spPr>
          <a:xfrm>
            <a:off x="4800595" y="2639823"/>
            <a:ext cx="16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y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migraciones con Alembic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6720835" y="2255775"/>
            <a:ext cx="2011800" cy="128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6720835" y="2255775"/>
            <a:ext cx="63900" cy="1280100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 txBox="1"/>
          <p:nvPr/>
        </p:nvSpPr>
        <p:spPr>
          <a:xfrm>
            <a:off x="6903715" y="2310639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A4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 txBox="1"/>
          <p:nvPr/>
        </p:nvSpPr>
        <p:spPr>
          <a:xfrm>
            <a:off x="6903715" y="2639823"/>
            <a:ext cx="16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Git, GitHub, Docker, Docker Compose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 Vercel/Railway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Metodología Scrum y organización del trabajo</a:t>
            </a:r>
            <a:endParaRPr sz="2400"/>
          </a:p>
        </p:txBody>
      </p:sp>
      <p:sp>
        <p:nvSpPr>
          <p:cNvPr id="108" name="Google Shape;108;p9"/>
          <p:cNvSpPr/>
          <p:nvPr/>
        </p:nvSpPr>
        <p:spPr>
          <a:xfrm>
            <a:off x="457200" y="1005850"/>
            <a:ext cx="3934500" cy="265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457200" y="1005840"/>
            <a:ext cx="63900" cy="2651700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 txBox="1"/>
          <p:nvPr/>
        </p:nvSpPr>
        <p:spPr>
          <a:xfrm>
            <a:off x="640080" y="1060704"/>
            <a:ext cx="466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A4"/>
                </a:solidFill>
                <a:latin typeface="Calibri"/>
                <a:ea typeface="Calibri"/>
                <a:cs typeface="Calibri"/>
                <a:sym typeface="Calibri"/>
              </a:rPr>
              <a:t>Trabajo ágil: épicas, tickets y subtareas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 txBox="1"/>
          <p:nvPr/>
        </p:nvSpPr>
        <p:spPr>
          <a:xfrm>
            <a:off x="640076" y="1389900"/>
            <a:ext cx="3778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Planificación por sprints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Cada Sprint equivale a un Epic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Cada Sprint dura de 7 a 15 dias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Distribución de responsabilidades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Seguimiento de tareas y prioridades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Revisión de avances y evidencias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Comunicación del equipo y orientación de los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referentes de CoreStream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 txBox="1"/>
          <p:nvPr/>
        </p:nvSpPr>
        <p:spPr>
          <a:xfrm>
            <a:off x="457200" y="3947160"/>
            <a:ext cx="4937700" cy="77730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 planificación se usa para identificar avances, dependencias y tareas pendientes.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5250" y="903463"/>
            <a:ext cx="4075749" cy="2963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Épicas y estado de avance</a:t>
            </a:r>
            <a:endParaRPr sz="2400"/>
          </a:p>
        </p:txBody>
      </p:sp>
      <p:graphicFrame>
        <p:nvGraphicFramePr>
          <p:cNvPr id="121" name="Google Shape;121;p10"/>
          <p:cNvGraphicFramePr/>
          <p:nvPr/>
        </p:nvGraphicFramePr>
        <p:xfrm>
          <a:off x="914500" y="936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{8BB0F0EB-AF2E-4C0E-9CD3-8938E43AAEB3}</a:tableStyleId>
              </a:tblPr>
              <a:tblGrid>
                <a:gridCol w="4491675"/>
                <a:gridCol w="2823325"/>
              </a:tblGrid>
              <a:tr h="32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Épica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Estado informado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EPIC 1 — Análisis y Arquitectura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6A34A"/>
                          </a:solidFill>
                        </a:rPr>
                        <a:t>100% completada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EPIC 2 — Persistencia y Base de Datos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6A34A"/>
                          </a:solidFill>
                        </a:rPr>
                        <a:t>100% completada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EPIC 2.5 — Proyectos y Aplicaciones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6A34A"/>
                          </a:solidFill>
                        </a:rPr>
                        <a:t>100% completada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EPIC 3 — Tickets y Kanban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chemeClr val="accent3"/>
                          </a:solidFill>
                        </a:rPr>
                        <a:t>100% completada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EPIC 4 — Sprints y SLA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chemeClr val="accent3"/>
                          </a:solidFill>
                        </a:rPr>
                        <a:t>100% completada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EPIC 5 — Reportes y Analítica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C2626"/>
                          </a:solidFill>
                        </a:rPr>
                        <a:t>Pendiente de desarrollo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EPIC 6 — Búsqueda y Filtros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chemeClr val="accent3"/>
                          </a:solidFill>
                        </a:rPr>
                        <a:t>100% completada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EPIC 7 — Seguridad y Control de Acceso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C2626"/>
                          </a:solidFill>
                        </a:rPr>
                        <a:t>Pendiente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10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Cada Epic equivale a un Sprint de la metodologia SCRUM.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Funcionalidades desarrolladas</a:t>
            </a:r>
            <a:endParaRPr sz="2400"/>
          </a:p>
        </p:txBody>
      </p:sp>
      <p:sp>
        <p:nvSpPr>
          <p:cNvPr id="130" name="Google Shape;130;p11"/>
          <p:cNvSpPr/>
          <p:nvPr/>
        </p:nvSpPr>
        <p:spPr>
          <a:xfrm>
            <a:off x="184625" y="1343600"/>
            <a:ext cx="3466800" cy="201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"/>
          <p:cNvSpPr txBox="1"/>
          <p:nvPr/>
        </p:nvSpPr>
        <p:spPr>
          <a:xfrm>
            <a:off x="367505" y="1398429"/>
            <a:ext cx="484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Completado según planificación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 txBox="1"/>
          <p:nvPr/>
        </p:nvSpPr>
        <p:spPr>
          <a:xfrm>
            <a:off x="367505" y="1727613"/>
            <a:ext cx="480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proyectos, aplicaciones y épicas</a:t>
            </a:r>
            <a:endParaRPr b="0" i="0" sz="11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tickets y estados (EPIC 3)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Comentarios, etiquetas y subtareas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Tablero Kanban y transiciones de estado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 sprints y seguimiento de SLA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y filtros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Archivos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Adjuntos y gestor documental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4622" y="1076221"/>
            <a:ext cx="4998554" cy="363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Ajustes y dificultades técnicas</a:t>
            </a:r>
            <a:endParaRPr sz="2400"/>
          </a:p>
        </p:txBody>
      </p:sp>
      <p:sp>
        <p:nvSpPr>
          <p:cNvPr id="141" name="Google Shape;141;p12"/>
          <p:cNvSpPr/>
          <p:nvPr/>
        </p:nvSpPr>
        <p:spPr>
          <a:xfrm>
            <a:off x="457200" y="1005840"/>
            <a:ext cx="5120640" cy="251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"/>
          <p:cNvSpPr/>
          <p:nvPr/>
        </p:nvSpPr>
        <p:spPr>
          <a:xfrm>
            <a:off x="457200" y="1005840"/>
            <a:ext cx="64008" cy="2514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"/>
          <p:cNvSpPr txBox="1"/>
          <p:nvPr/>
        </p:nvSpPr>
        <p:spPr>
          <a:xfrm>
            <a:off x="640080" y="1060704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Principales dificultades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640080" y="1389888"/>
            <a:ext cx="48006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Configuración inicial de Docker y Docker Compose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Variables de entorno, puertos y comunicación entre servicios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Integración de frontend, endpoints, modelos y permisos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Adaptación de modelos y migraciones de la base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Coordinación de cambios con Git y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457200" y="3657600"/>
            <a:ext cx="5120640" cy="96012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Abordarlas mejoró la comprensión de la arquitectura y mostró la importancia de un entorno reproducible.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7850" y="44863"/>
            <a:ext cx="3272025" cy="505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Docker y GitHub: evidencias técnicas</a:t>
            </a:r>
            <a:endParaRPr sz="2400"/>
          </a:p>
        </p:txBody>
      </p:sp>
      <p:sp>
        <p:nvSpPr>
          <p:cNvPr id="154" name="Google Shape;154;p13"/>
          <p:cNvSpPr/>
          <p:nvPr/>
        </p:nvSpPr>
        <p:spPr>
          <a:xfrm>
            <a:off x="457200" y="1005840"/>
            <a:ext cx="402336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457200" y="1005840"/>
            <a:ext cx="64008" cy="16002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640080" y="106070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640080" y="1389888"/>
            <a:ext cx="37033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Servicios con Docker Compose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Contenedores y conexión a PostgreSQL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Migraciones y entorno, según validaciones hechas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4663440" y="1005840"/>
            <a:ext cx="402336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4663440" y="1005840"/>
            <a:ext cx="64008" cy="1600200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"/>
          <p:cNvSpPr txBox="1"/>
          <p:nvPr/>
        </p:nvSpPr>
        <p:spPr>
          <a:xfrm>
            <a:off x="4846320" y="106070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A4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4846320" y="1389888"/>
            <a:ext cx="37033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Repositorio y organización del código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Historial de commits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Colaboración entre integrantes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457200" y="2743200"/>
            <a:ext cx="4023300" cy="18744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450" y="2727650"/>
            <a:ext cx="4355925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250" y="2727650"/>
            <a:ext cx="4056724" cy="191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/>
          <p:nvPr>
            <p:ph type="title"/>
          </p:nvPr>
        </p:nvSpPr>
        <p:spPr>
          <a:xfrm>
            <a:off x="457200" y="2286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Plan de pruebas de calidad</a:t>
            </a:r>
            <a:endParaRPr sz="2400"/>
          </a:p>
        </p:txBody>
      </p:sp>
      <p:graphicFrame>
        <p:nvGraphicFramePr>
          <p:cNvPr id="172" name="Google Shape;172;p14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{8BB0F0EB-AF2E-4C0E-9CD3-8938E43AAEB3}</a:tableStyleId>
              </a:tblPr>
              <a:tblGrid>
                <a:gridCol w="3474725"/>
                <a:gridCol w="10972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Grupo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Casos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CP1 y CP2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Autenticación y RBAC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20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Sprints y SLA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24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Tickets y Kanban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Proyectos, búsqueda y reportes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10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Integración y Docker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10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</a:rPr>
                        <a:t>Total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</a:rPr>
                        <a:t>88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14"/>
          <p:cNvSpPr txBox="1"/>
          <p:nvPr/>
        </p:nvSpPr>
        <p:spPr>
          <a:xfrm>
            <a:off x="457200" y="3337560"/>
            <a:ext cx="4572000" cy="128016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88 = total de casos definidos en el plan, no el número de pruebas aprobadas.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5212205" y="87615"/>
            <a:ext cx="34746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"/>
          <p:cNvSpPr/>
          <p:nvPr/>
        </p:nvSpPr>
        <p:spPr>
          <a:xfrm>
            <a:off x="5212205" y="87615"/>
            <a:ext cx="63900" cy="1600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5395085" y="142479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Casos fallidos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5395085" y="471663"/>
            <a:ext cx="315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CP1-006: rol incorrecto con correo que comienza con leader@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CP2-005: la mención @leader no generó notificación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5212205" y="1779255"/>
            <a:ext cx="3474600" cy="77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>
            <a:off x="5212205" y="1779255"/>
            <a:ext cx="63900" cy="7773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5395085" y="1834119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Pendientes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5395085" y="2163303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 casos en proyectos, búsqueda, documentos y reportes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225" y="2721125"/>
            <a:ext cx="2778650" cy="21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Evidencias y documentación del proyecto</a:t>
            </a:r>
            <a:endParaRPr sz="2400"/>
          </a:p>
        </p:txBody>
      </p:sp>
      <p:sp>
        <p:nvSpPr>
          <p:cNvPr id="190" name="Google Shape;190;p15"/>
          <p:cNvSpPr/>
          <p:nvPr/>
        </p:nvSpPr>
        <p:spPr>
          <a:xfrm>
            <a:off x="457200" y="1005840"/>
            <a:ext cx="4937760" cy="2697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457200" y="1005840"/>
            <a:ext cx="64008" cy="2697480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640080" y="1060704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A4"/>
                </a:solidFill>
                <a:latin typeface="Calibri"/>
                <a:ea typeface="Calibri"/>
                <a:cs typeface="Calibri"/>
                <a:sym typeface="Calibri"/>
              </a:rPr>
              <a:t>Respaldo del avance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640080" y="1389888"/>
            <a:ext cx="46177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Capturas de funcionalidades implementadas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Evidencias de Docker y base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Repositorio e historial en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Matriz de pruebas y registro de defectos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Planificación, Scrum y retrospectivas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457200" y="3840480"/>
            <a:ext cx="4937760" cy="77724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Cada evidencia se asocia a una funcionalidad o requerimiento y explica qué demuestra.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360" y="975360"/>
            <a:ext cx="3444240" cy="362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Galería: gestión de proyectos</a:t>
            </a:r>
            <a:endParaRPr sz="2400"/>
          </a:p>
        </p:txBody>
      </p:sp>
      <p:sp>
        <p:nvSpPr>
          <p:cNvPr id="203" name="Google Shape;203;p16"/>
          <p:cNvSpPr txBox="1"/>
          <p:nvPr/>
        </p:nvSpPr>
        <p:spPr>
          <a:xfrm>
            <a:off x="457200" y="34290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Proyectos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457200" y="3721608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Listado y administración de proyectos.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3291828" y="352045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Épicas y progreso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3291840" y="3721608"/>
            <a:ext cx="265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Épicas con su avance registrado.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6126480" y="34290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Tickets y subtareas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6126480" y="3721608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Tickets y subtareas asociados a las epicas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25" y="1218938"/>
            <a:ext cx="2997844" cy="202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8350" y="1416280"/>
            <a:ext cx="2707324" cy="1711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8074" y="975360"/>
            <a:ext cx="2763566" cy="2301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457200" y="2286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Galería: tickets y tablero Kanban</a:t>
            </a:r>
            <a:endParaRPr sz="2400"/>
          </a:p>
        </p:txBody>
      </p:sp>
      <p:sp>
        <p:nvSpPr>
          <p:cNvPr id="219" name="Google Shape;219;p17"/>
          <p:cNvSpPr txBox="1"/>
          <p:nvPr/>
        </p:nvSpPr>
        <p:spPr>
          <a:xfrm>
            <a:off x="243175" y="338960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Detalle de ticket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243175" y="3682208"/>
            <a:ext cx="265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Información, estado y responsable del ticket.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2894865" y="445080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Historial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2894865" y="4743408"/>
            <a:ext cx="265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Historial de cambios en Tickets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6112655" y="3209575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b="1"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de Archivos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6112655" y="3502183"/>
            <a:ext cx="265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Archivos asignados a Ticket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8335"/>
            <a:ext cx="2536061" cy="2301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4875" y="908334"/>
            <a:ext cx="2226775" cy="332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4050" y="975300"/>
            <a:ext cx="3717551" cy="196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Galería: sprints</a:t>
            </a:r>
            <a:r>
              <a:rPr lang="en-US"/>
              <a:t> y</a:t>
            </a:r>
            <a:r>
              <a:rPr b="1" lang="en-US" sz="2400">
                <a:solidFill>
                  <a:srgbClr val="0B1F3A"/>
                </a:solidFill>
              </a:rPr>
              <a:t> SLA</a:t>
            </a:r>
            <a:endParaRPr sz="2400"/>
          </a:p>
        </p:txBody>
      </p:sp>
      <p:sp>
        <p:nvSpPr>
          <p:cNvPr id="235" name="Google Shape;235;p18"/>
          <p:cNvSpPr txBox="1"/>
          <p:nvPr/>
        </p:nvSpPr>
        <p:spPr>
          <a:xfrm>
            <a:off x="457200" y="4188438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Sprints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457200" y="4481046"/>
            <a:ext cx="265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Planificación de las iteraciones del equipo.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6108690" y="342900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SLA y tiempos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6108690" y="3721608"/>
            <a:ext cx="265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Seguimiento de tiempos de atención.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00" y="822960"/>
            <a:ext cx="3574562" cy="3060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8137" y="975360"/>
            <a:ext cx="3688654" cy="2301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/>
          <p:nvPr>
            <p:ph type="title"/>
          </p:nvPr>
        </p:nvSpPr>
        <p:spPr>
          <a:xfrm>
            <a:off x="457200" y="2286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Galería: </a:t>
            </a:r>
            <a:r>
              <a:rPr lang="en-US"/>
              <a:t>Búsqueda</a:t>
            </a:r>
            <a:r>
              <a:rPr lang="en-US"/>
              <a:t> y Filtros</a:t>
            </a:r>
            <a:endParaRPr sz="2400"/>
          </a:p>
        </p:txBody>
      </p:sp>
      <p:sp>
        <p:nvSpPr>
          <p:cNvPr id="248" name="Google Shape;248;p19"/>
          <p:cNvSpPr txBox="1"/>
          <p:nvPr/>
        </p:nvSpPr>
        <p:spPr>
          <a:xfrm>
            <a:off x="457200" y="4188438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Busqueda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457200" y="4481046"/>
            <a:ext cx="265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Buscador universal funcionando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5867065" y="403605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Filtros y Etiquetas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5867065" y="4328658"/>
            <a:ext cx="265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Filtros y Etiquetas que permiten la busqueda de lo necesario.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50" y="975300"/>
            <a:ext cx="3669542" cy="3060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7400" y="1669875"/>
            <a:ext cx="4996599" cy="16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Galería: entorno técnico y evidencias</a:t>
            </a:r>
            <a:endParaRPr sz="2400"/>
          </a:p>
        </p:txBody>
      </p:sp>
      <p:sp>
        <p:nvSpPr>
          <p:cNvPr id="261" name="Google Shape;261;p20"/>
          <p:cNvSpPr txBox="1"/>
          <p:nvPr/>
        </p:nvSpPr>
        <p:spPr>
          <a:xfrm>
            <a:off x="457200" y="34290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Docker Compose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457200" y="3721608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Demuestra los servicios en ejecución.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3291840" y="342900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3291840" y="3721608"/>
            <a:ext cx="265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Organización del código y trabajo colaborativo.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25" y="2682052"/>
            <a:ext cx="2738475" cy="7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0400" y="1999871"/>
            <a:ext cx="2843201" cy="127672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6288690" y="4273725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GitHub </a:t>
            </a:r>
            <a:r>
              <a:rPr b="1"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(Commits)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6288690" y="4566333"/>
            <a:ext cx="265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Commits del repositorio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6975" y="574926"/>
            <a:ext cx="2964975" cy="35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/>
          <p:nvPr>
            <p:ph type="title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B1F3A"/>
                </a:solidFill>
              </a:rPr>
              <a:t>Estado actual, próximos pasos y cierre</a:t>
            </a:r>
            <a:endParaRPr sz="2400"/>
          </a:p>
        </p:txBody>
      </p:sp>
      <p:sp>
        <p:nvSpPr>
          <p:cNvPr id="277" name="Google Shape;277;p21"/>
          <p:cNvSpPr/>
          <p:nvPr/>
        </p:nvSpPr>
        <p:spPr>
          <a:xfrm>
            <a:off x="457200" y="1005840"/>
            <a:ext cx="40233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457200" y="1005840"/>
            <a:ext cx="64008" cy="192024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40080" y="106070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Principales avances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640080" y="1389888"/>
            <a:ext cx="3703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Arquitectura y persistencia completadas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Proyectos, aplicaciones y épicas completados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Avance en tickets, Kanban, sprints, SLA y filtros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Pruebas, evidencias y documentación en preparación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4663440" y="1005840"/>
            <a:ext cx="4023360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4663440" y="1005840"/>
            <a:ext cx="64008" cy="2880360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4846320" y="106070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A4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846320" y="1389888"/>
            <a:ext cx="37033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Avanzar en reportes, seguridad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Corregir defectos y ejecutar pruebas pendientes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Verificar integración y entorno Docker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Completar manuales y documentación final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Aprendizaje: arquitectura, frontend, backend, bases de datos, integración y trabajo colaborativo.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eStream">
  <a:themeElements>
    <a:clrScheme name="CoreStream">
      <a:dk1>
        <a:srgbClr val="1E293B"/>
      </a:dk1>
      <a:lt1>
        <a:srgbClr val="FFFFFF"/>
      </a:lt1>
      <a:dk2>
        <a:srgbClr val="0B1F3A"/>
      </a:dk2>
      <a:lt2>
        <a:srgbClr val="F4F7FA"/>
      </a:lt2>
      <a:accent1>
        <a:srgbClr val="0EA5A4"/>
      </a:accent1>
      <a:accent2>
        <a:srgbClr val="2563EB"/>
      </a:accent2>
      <a:accent3>
        <a:srgbClr val="16A34A"/>
      </a:accent3>
      <a:accent4>
        <a:srgbClr val="D97706"/>
      </a:accent4>
      <a:accent5>
        <a:srgbClr val="DC2626"/>
      </a:accent5>
      <a:accent6>
        <a:srgbClr val="64748B"/>
      </a:accent6>
      <a:hlink>
        <a:srgbClr val="2563EB"/>
      </a:hlink>
      <a:folHlink>
        <a:srgbClr val="6474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eStream">
  <a:themeElements>
    <a:clrScheme name="CoreStream">
      <a:dk1>
        <a:srgbClr val="1E293B"/>
      </a:dk1>
      <a:lt1>
        <a:srgbClr val="FFFFFF"/>
      </a:lt1>
      <a:dk2>
        <a:srgbClr val="0B1F3A"/>
      </a:dk2>
      <a:lt2>
        <a:srgbClr val="F4F7FA"/>
      </a:lt2>
      <a:accent1>
        <a:srgbClr val="0EA5A4"/>
      </a:accent1>
      <a:accent2>
        <a:srgbClr val="2563EB"/>
      </a:accent2>
      <a:accent3>
        <a:srgbClr val="16A34A"/>
      </a:accent3>
      <a:accent4>
        <a:srgbClr val="D97706"/>
      </a:accent4>
      <a:accent5>
        <a:srgbClr val="DC2626"/>
      </a:accent5>
      <a:accent6>
        <a:srgbClr val="64748B"/>
      </a:accent6>
      <a:hlink>
        <a:srgbClr val="2563EB"/>
      </a:hlink>
      <a:folHlink>
        <a:srgbClr val="6474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